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407" r:id="rId4"/>
    <p:sldId id="323" r:id="rId5"/>
    <p:sldId id="390" r:id="rId6"/>
    <p:sldId id="326" r:id="rId7"/>
    <p:sldId id="388" r:id="rId8"/>
    <p:sldId id="364" r:id="rId9"/>
    <p:sldId id="409" r:id="rId10"/>
    <p:sldId id="387" r:id="rId11"/>
    <p:sldId id="391" r:id="rId12"/>
    <p:sldId id="392" r:id="rId13"/>
    <p:sldId id="393" r:id="rId14"/>
    <p:sldId id="394" r:id="rId15"/>
    <p:sldId id="395" r:id="rId16"/>
    <p:sldId id="410" r:id="rId17"/>
    <p:sldId id="396" r:id="rId18"/>
    <p:sldId id="397" r:id="rId19"/>
    <p:sldId id="389" r:id="rId20"/>
    <p:sldId id="366" r:id="rId21"/>
    <p:sldId id="367" r:id="rId22"/>
    <p:sldId id="400" r:id="rId23"/>
    <p:sldId id="412" r:id="rId24"/>
    <p:sldId id="373" r:id="rId25"/>
    <p:sldId id="399" r:id="rId26"/>
    <p:sldId id="398" r:id="rId27"/>
    <p:sldId id="369" r:id="rId28"/>
    <p:sldId id="401" r:id="rId29"/>
    <p:sldId id="370" r:id="rId30"/>
    <p:sldId id="402" r:id="rId31"/>
    <p:sldId id="411" r:id="rId32"/>
    <p:sldId id="371" r:id="rId33"/>
    <p:sldId id="403" r:id="rId34"/>
    <p:sldId id="372" r:id="rId35"/>
    <p:sldId id="374" r:id="rId36"/>
    <p:sldId id="405" r:id="rId37"/>
    <p:sldId id="406" r:id="rId38"/>
    <p:sldId id="365" r:id="rId39"/>
    <p:sldId id="408" r:id="rId40"/>
    <p:sldId id="383" r:id="rId41"/>
    <p:sldId id="27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260"/>
    <a:srgbClr val="F18120"/>
    <a:srgbClr val="DD4039"/>
    <a:srgbClr val="EE4238"/>
    <a:srgbClr val="33CCCC"/>
    <a:srgbClr val="F5F5F5"/>
    <a:srgbClr val="898A8B"/>
    <a:srgbClr val="969798"/>
    <a:srgbClr val="FFC819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71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11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Perron" userId="5cbb7adf-dcc5-4575-b463-4d02fa27e6cf" providerId="ADAL" clId="{21876A59-DCA3-4FC2-89A5-1144642BB17E}"/>
    <pc:docChg chg="modSld">
      <pc:chgData name="Kimberly Perron" userId="5cbb7adf-dcc5-4575-b463-4d02fa27e6cf" providerId="ADAL" clId="{21876A59-DCA3-4FC2-89A5-1144642BB17E}" dt="2023-07-26T12:58:27.836" v="258" actId="1076"/>
      <pc:docMkLst>
        <pc:docMk/>
      </pc:docMkLst>
      <pc:sldChg chg="modSp mod">
        <pc:chgData name="Kimberly Perron" userId="5cbb7adf-dcc5-4575-b463-4d02fa27e6cf" providerId="ADAL" clId="{21876A59-DCA3-4FC2-89A5-1144642BB17E}" dt="2023-07-26T12:58:27.836" v="258" actId="1076"/>
        <pc:sldMkLst>
          <pc:docMk/>
          <pc:sldMk cId="655497216" sldId="256"/>
        </pc:sldMkLst>
        <pc:spChg chg="mod">
          <ac:chgData name="Kimberly Perron" userId="5cbb7adf-dcc5-4575-b463-4d02fa27e6cf" providerId="ADAL" clId="{21876A59-DCA3-4FC2-89A5-1144642BB17E}" dt="2023-07-26T12:58:27.836" v="258" actId="1076"/>
          <ac:spMkLst>
            <pc:docMk/>
            <pc:sldMk cId="655497216" sldId="256"/>
            <ac:spMk id="5" creationId="{6AC53814-60A6-3F04-AC18-8325F79A47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FF2C-C8C5-9735-4E35-6F9967B8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2BA0D-6486-F4DE-8496-8408A6ED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D534-4815-808F-4042-23DBFA7A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47424-4C4C-82D5-91B9-D79F048D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508B-6C93-D70C-9CC5-B683AD8C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2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A3D7-7A72-77F7-6B22-04CF0AAB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F292-59EE-73DF-B4AD-754E7C5B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846A-146C-6748-6168-1168C8B6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12CB-96FA-8EAF-357F-17C5143B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91C0-DB77-7ACF-B449-3D2B8EA8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1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EBE3-07B5-9647-EC04-0B70946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58339-A007-F750-0C79-91478FE6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9EA1-22F8-6309-0603-0668F516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A51FD-17F5-F54F-0CCD-BFE90573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6519-CD6A-A6C6-49CC-C30DB43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9FC9-42BC-9D9D-DCDB-05AF28E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0C35-7213-4B94-0169-F0F1A047B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040CA-9288-BAFB-B362-5C6F58FEC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9A0DC-C6BC-66C8-9DFC-DBC27D61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3312-9DBD-73CC-D7FE-DAE37969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F967B-6135-E4A8-54B0-3DC25AC3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CCE6-6D8A-9D50-83D1-6A88E400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C71CC-858E-6E72-27A5-0D25D3C99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B9737-0237-2AB7-EB76-B1B6A928D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00E6-34BC-A5E9-2762-6F4A19A1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9C32F-82F1-2D89-F698-0F066F9C2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59281-1773-8A7E-CBF4-E3F1E944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AF51E-FADD-B355-0939-94DE1C52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6A149-3FDC-B3FD-1B4C-7311F30F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1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8E76-8BA6-6F60-5794-F63A9CB6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9201A-870F-8C8D-9F1C-08DE9282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CF466-ACC9-CE02-3889-DC753F98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76CC-AD7A-2AB1-343F-6F9D2D2C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6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11E4D-419A-FB83-6F13-63B808DA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D445F-A890-68A0-398A-A6EE3808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41A16-594E-AA93-E60F-3509B52A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4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BC32-382C-AD36-8E3E-A8697518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B8FB-E3BF-256A-BB00-25A03D9B8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0878-A57A-8A0D-4124-ABD15AB49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5B10-8968-996D-39B1-B9F7152B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38E4-BFDE-2F71-965F-41935C4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2B6C4-3B13-815F-0644-05601F20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2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1E4E-1E6F-79DC-31F0-E69BAD8A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80CC-745E-6203-8E0E-FC46C12B0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239BD-356C-68C3-5031-E353010F2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8566-65CC-D997-A12E-FDD37424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813AE-53CB-24E9-8191-1EFA9AD9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6C257-1F63-D000-37F8-DA0BEC6B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8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7DDC-0F0E-9522-437E-2A2CC660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37D74-D1BB-ED6F-EF4B-A1BA79BC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CBBD-99DB-5C5E-55DD-44E8A07E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B421-D1E1-08EF-7BE1-6CD5D2C3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BDD5-046D-E3DF-9F1F-05BF67E3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2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86933-E60C-3FB9-94AB-AC71AC1FB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52F69-A067-EE10-C251-D8CA81B3F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B7E6-93BF-D1AE-9E4D-422C7316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4CF0-BE7F-7535-DCE3-21DD4F18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E431-208B-EBC1-DBF2-7AF5B1FF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1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0E485-9EEF-FC33-4E2D-3788F4F2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CADC-95B6-AB9A-E5C1-D19BFF2EE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11D7-9C35-451E-3FDF-E0D865DAD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01E01-21E5-411C-9AB0-9285D947AFA7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9401-0A5F-3D41-E7FF-9D7A9973F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15731-26A3-E08D-F38F-0A70E265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1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7" y="976650"/>
            <a:ext cx="8823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6000" dirty="0">
                <a:solidFill>
                  <a:srgbClr val="252260"/>
                </a:solidFill>
                <a:latin typeface="Century Gothic" panose="020B0502020202020204" pitchFamily="34" charset="0"/>
              </a:rPr>
              <a:t>Change Management Principles for CRM Software Conversion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54079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ont, graphics, logo&#10;&#10;Description automatically generated">
            <a:extLst>
              <a:ext uri="{FF2B5EF4-FFF2-40B4-BE49-F238E27FC236}">
                <a16:creationId xmlns:a16="http://schemas.microsoft.com/office/drawing/2014/main" id="{4EA8E8F1-228F-9D45-52BB-DAF4D6E64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284" y="4394308"/>
            <a:ext cx="4455432" cy="747213"/>
          </a:xfrm>
          <a:prstGeom prst="rect">
            <a:avLst/>
          </a:prstGeom>
        </p:spPr>
      </p:pic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B3171-DEE8-A8CC-306D-A245B6F46AAD}"/>
              </a:ext>
            </a:extLst>
          </p:cNvPr>
          <p:cNvSpPr txBox="1"/>
          <p:nvPr/>
        </p:nvSpPr>
        <p:spPr>
          <a:xfrm>
            <a:off x="3200400" y="5152213"/>
            <a:ext cx="579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Presented by Kimberly Perron, MBA</a:t>
            </a:r>
          </a:p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Customer Success Instructor</a:t>
            </a:r>
          </a:p>
        </p:txBody>
      </p:sp>
    </p:spTree>
    <p:extLst>
      <p:ext uri="{BB962C8B-B14F-4D97-AF65-F5344CB8AC3E}">
        <p14:creationId xmlns:p14="http://schemas.microsoft.com/office/powerpoint/2010/main" val="65549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E5CF60B0-58B9-3493-DD8C-0B943C3A94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957" y="482487"/>
            <a:ext cx="2408604" cy="2202547"/>
          </a:xfrm>
          <a:prstGeom prst="rect">
            <a:avLst/>
          </a:prstGeom>
        </p:spPr>
      </p:pic>
      <p:pic>
        <p:nvPicPr>
          <p:cNvPr id="11" name="Picture 10" descr="Shape, arrow">
            <a:extLst>
              <a:ext uri="{FF2B5EF4-FFF2-40B4-BE49-F238E27FC236}">
                <a16:creationId xmlns:a16="http://schemas.microsoft.com/office/drawing/2014/main" id="{7E4DB932-E242-6477-1D88-E44CFAF570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0101" y="190544"/>
            <a:ext cx="2433499" cy="2671596"/>
          </a:xfrm>
          <a:prstGeom prst="rect">
            <a:avLst/>
          </a:prstGeom>
        </p:spPr>
      </p:pic>
      <p:pic>
        <p:nvPicPr>
          <p:cNvPr id="13" name="Picture 12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F56B8219-4C44-99F1-6E38-CCF7694BC8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957" y="3347326"/>
            <a:ext cx="2657947" cy="2657947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47CD0B1-82B8-0202-3131-603B946FE22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5015" y="323984"/>
            <a:ext cx="2220058" cy="2272144"/>
          </a:xfrm>
          <a:prstGeom prst="rect">
            <a:avLst/>
          </a:prstGeom>
        </p:spPr>
      </p:pic>
      <p:pic>
        <p:nvPicPr>
          <p:cNvPr id="21" name="Picture 20" descr="Logo, company name">
            <a:extLst>
              <a:ext uri="{FF2B5EF4-FFF2-40B4-BE49-F238E27FC236}">
                <a16:creationId xmlns:a16="http://schemas.microsoft.com/office/drawing/2014/main" id="{AD1BA41B-DD7E-11DA-E425-2971051344C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7174" y="426943"/>
            <a:ext cx="2446481" cy="2446481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BED77748-F8A7-8454-CD17-C32C1302C56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6045" y="2507749"/>
            <a:ext cx="3161662" cy="1028230"/>
          </a:xfrm>
          <a:prstGeom prst="rect">
            <a:avLst/>
          </a:prstGeom>
        </p:spPr>
      </p:pic>
      <p:pic>
        <p:nvPicPr>
          <p:cNvPr id="17" name="Picture 16" descr="A picture containing icon">
            <a:extLst>
              <a:ext uri="{FF2B5EF4-FFF2-40B4-BE49-F238E27FC236}">
                <a16:creationId xmlns:a16="http://schemas.microsoft.com/office/drawing/2014/main" id="{EF62F44A-4299-CD17-1DFB-1D080444411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6854" y="3461720"/>
            <a:ext cx="2307008" cy="2281840"/>
          </a:xfrm>
          <a:prstGeom prst="rect">
            <a:avLst/>
          </a:prstGeom>
        </p:spPr>
      </p:pic>
      <p:pic>
        <p:nvPicPr>
          <p:cNvPr id="19" name="Picture 18" descr="Graphical user interface">
            <a:extLst>
              <a:ext uri="{FF2B5EF4-FFF2-40B4-BE49-F238E27FC236}">
                <a16:creationId xmlns:a16="http://schemas.microsoft.com/office/drawing/2014/main" id="{1BF34E46-800E-B6A0-EFB8-D8E95AA1703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5146" y="3178110"/>
            <a:ext cx="2849060" cy="2849060"/>
          </a:xfrm>
          <a:prstGeom prst="rect">
            <a:avLst/>
          </a:prstGeom>
        </p:spPr>
      </p:pic>
      <p:pic>
        <p:nvPicPr>
          <p:cNvPr id="25" name="Picture 24" descr="Diagram">
            <a:extLst>
              <a:ext uri="{FF2B5EF4-FFF2-40B4-BE49-F238E27FC236}">
                <a16:creationId xmlns:a16="http://schemas.microsoft.com/office/drawing/2014/main" id="{E27B9AB4-3AE3-112E-641F-6CCE15B03EA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7643" y="3525433"/>
            <a:ext cx="2433499" cy="225966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50A15D4-10DD-D07C-29C9-CC07CEE417BE}"/>
              </a:ext>
            </a:extLst>
          </p:cNvPr>
          <p:cNvGrpSpPr/>
          <p:nvPr/>
        </p:nvGrpSpPr>
        <p:grpSpPr>
          <a:xfrm>
            <a:off x="0" y="5710841"/>
            <a:ext cx="12192000" cy="1147160"/>
            <a:chOff x="0" y="5710841"/>
            <a:chExt cx="12192000" cy="1147160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FDC0A2DE-309B-04DC-271C-6006EABA27D0}"/>
                </a:ext>
              </a:extLst>
            </p:cNvPr>
            <p:cNvSpPr/>
            <p:nvPr/>
          </p:nvSpPr>
          <p:spPr>
            <a:xfrm>
              <a:off x="0" y="5710841"/>
              <a:ext cx="12192000" cy="114715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14EE030-C94D-E761-20B0-DC8B874A5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4667440" y="6125799"/>
              <a:ext cx="2722598" cy="7322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06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Why does your organization want to undertake strategic planning?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Our team needs to get on the same page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We’ve been reacting to changes to frequently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We are not making sufficient progress towards our 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We’d like to be able to share a strategic plan with donors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So that we don’t keep changing the target each year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Other reason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Why strategic planning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6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762000" y="1407758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Team alignment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Proactive instead of reactive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Desire to improve/achieve 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Makes annual planning easier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Strengthens communications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Focuses attention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PLANNING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Benefits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9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762000" y="1219880"/>
            <a:ext cx="106679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Long-term view 3 – 5 years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Incorporates vision, mission, and values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Examines internal and external factors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Attempts to determine “why”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Creates major objectives to help achieve vision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Overall Direction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20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  <a:solidFill>
            <a:srgbClr val="DD4039"/>
          </a:solidFill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  <a:grpFill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91565" y="1330714"/>
            <a:ext cx="1140886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Experience of leadership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Complexity of issues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Availability of project manager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Cohesiveness of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Financial and time considerations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Outside perspective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3D599-B7F8-0EB7-3652-C77F02661B9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E15B-9D8C-658C-A4ED-E7B9EF97E494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DIY or Consultant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89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  <a:solidFill>
            <a:srgbClr val="DD4039"/>
          </a:solidFill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  <a:grpFill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58588" y="1556808"/>
            <a:ext cx="642769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Executive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Fundraising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Board of Directors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Other key stakeholders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3D599-B7F8-0EB7-3652-C77F02661B9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E15B-9D8C-658C-A4ED-E7B9EF97E494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Team Members</a:t>
            </a:r>
          </a:p>
          <a:p>
            <a:endParaRPr lang="en-US" dirty="0"/>
          </a:p>
        </p:txBody>
      </p:sp>
      <p:pic>
        <p:nvPicPr>
          <p:cNvPr id="20" name="Picture 1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5DD6B8AE-5650-FD1B-ACC8-A139F8DDC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54" y="1669428"/>
            <a:ext cx="5415875" cy="3519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065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Guiding Principles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2ED8EC-6C43-FA1B-07AE-1495D332B7E6}"/>
              </a:ext>
            </a:extLst>
          </p:cNvPr>
          <p:cNvGrpSpPr/>
          <p:nvPr/>
        </p:nvGrpSpPr>
        <p:grpSpPr>
          <a:xfrm>
            <a:off x="6446266" y="1450592"/>
            <a:ext cx="5427490" cy="4136110"/>
            <a:chOff x="2999014" y="1374949"/>
            <a:chExt cx="6193972" cy="4500320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9E00424-1C2E-37C9-22B5-587A6EC2DDC8}"/>
                </a:ext>
              </a:extLst>
            </p:cNvPr>
            <p:cNvSpPr/>
            <p:nvPr/>
          </p:nvSpPr>
          <p:spPr>
            <a:xfrm>
              <a:off x="2999014" y="1374949"/>
              <a:ext cx="6193972" cy="4500320"/>
            </a:xfrm>
            <a:prstGeom prst="triangle">
              <a:avLst/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F31AFE79-E526-7588-30EF-1413CA2106AC}"/>
                </a:ext>
              </a:extLst>
            </p:cNvPr>
            <p:cNvSpPr/>
            <p:nvPr/>
          </p:nvSpPr>
          <p:spPr>
            <a:xfrm>
              <a:off x="4008967" y="1403495"/>
              <a:ext cx="4173014" cy="3002086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EAF9DB4B-35AE-E0CE-2D1B-EF0B09952DBE}"/>
                </a:ext>
              </a:extLst>
            </p:cNvPr>
            <p:cNvSpPr/>
            <p:nvPr/>
          </p:nvSpPr>
          <p:spPr>
            <a:xfrm>
              <a:off x="4942114" y="1374950"/>
              <a:ext cx="2312769" cy="1691384"/>
            </a:xfrm>
            <a:prstGeom prst="triangle">
              <a:avLst/>
            </a:prstGeom>
            <a:solidFill>
              <a:srgbClr val="EE4238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3BC68A-83DA-18E9-8CD9-DBAB77616592}"/>
                </a:ext>
              </a:extLst>
            </p:cNvPr>
            <p:cNvSpPr txBox="1"/>
            <p:nvPr/>
          </p:nvSpPr>
          <p:spPr>
            <a:xfrm>
              <a:off x="5185724" y="2381318"/>
              <a:ext cx="18093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VISION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E90CD1-1F01-F1C9-D70B-D94DA987C904}"/>
                </a:ext>
              </a:extLst>
            </p:cNvPr>
            <p:cNvSpPr txBox="1"/>
            <p:nvPr/>
          </p:nvSpPr>
          <p:spPr>
            <a:xfrm>
              <a:off x="5063917" y="3474865"/>
              <a:ext cx="2052956" cy="569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MISSION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6D6E7-5FE8-57C9-FA01-0DEFF7E2B01B}"/>
                </a:ext>
              </a:extLst>
            </p:cNvPr>
            <p:cNvSpPr txBox="1"/>
            <p:nvPr/>
          </p:nvSpPr>
          <p:spPr>
            <a:xfrm>
              <a:off x="5185726" y="4848037"/>
              <a:ext cx="18093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VALUES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CE8850B-BD90-DBBF-1814-902ECF783366}"/>
              </a:ext>
            </a:extLst>
          </p:cNvPr>
          <p:cNvSpPr txBox="1"/>
          <p:nvPr/>
        </p:nvSpPr>
        <p:spPr>
          <a:xfrm>
            <a:off x="283441" y="1949401"/>
            <a:ext cx="61728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Foundation for strategy and plans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Helps with decisions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Clarity of purpose</a:t>
            </a:r>
          </a:p>
        </p:txBody>
      </p:sp>
    </p:spTree>
    <p:extLst>
      <p:ext uri="{BB962C8B-B14F-4D97-AF65-F5344CB8AC3E}">
        <p14:creationId xmlns:p14="http://schemas.microsoft.com/office/powerpoint/2010/main" val="136198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– Ranking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2ED8EC-6C43-FA1B-07AE-1495D332B7E6}"/>
              </a:ext>
            </a:extLst>
          </p:cNvPr>
          <p:cNvGrpSpPr/>
          <p:nvPr/>
        </p:nvGrpSpPr>
        <p:grpSpPr>
          <a:xfrm>
            <a:off x="9045387" y="3218329"/>
            <a:ext cx="3016627" cy="2610420"/>
            <a:chOff x="2999014" y="1374949"/>
            <a:chExt cx="6193972" cy="4500320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29E00424-1C2E-37C9-22B5-587A6EC2DDC8}"/>
                </a:ext>
              </a:extLst>
            </p:cNvPr>
            <p:cNvSpPr/>
            <p:nvPr/>
          </p:nvSpPr>
          <p:spPr>
            <a:xfrm>
              <a:off x="2999014" y="1374949"/>
              <a:ext cx="6193972" cy="4500320"/>
            </a:xfrm>
            <a:prstGeom prst="triangle">
              <a:avLst/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F31AFE79-E526-7588-30EF-1413CA2106AC}"/>
                </a:ext>
              </a:extLst>
            </p:cNvPr>
            <p:cNvSpPr/>
            <p:nvPr/>
          </p:nvSpPr>
          <p:spPr>
            <a:xfrm>
              <a:off x="4008967" y="1403495"/>
              <a:ext cx="4173014" cy="3002086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EAF9DB4B-35AE-E0CE-2D1B-EF0B09952DBE}"/>
                </a:ext>
              </a:extLst>
            </p:cNvPr>
            <p:cNvSpPr/>
            <p:nvPr/>
          </p:nvSpPr>
          <p:spPr>
            <a:xfrm>
              <a:off x="4942114" y="1374950"/>
              <a:ext cx="2312769" cy="1691384"/>
            </a:xfrm>
            <a:prstGeom prst="triangle">
              <a:avLst/>
            </a:prstGeom>
            <a:solidFill>
              <a:srgbClr val="EE4238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3BC68A-83DA-18E9-8CD9-DBAB77616592}"/>
                </a:ext>
              </a:extLst>
            </p:cNvPr>
            <p:cNvSpPr txBox="1"/>
            <p:nvPr/>
          </p:nvSpPr>
          <p:spPr>
            <a:xfrm>
              <a:off x="5185724" y="2381317"/>
              <a:ext cx="1809346" cy="583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VISION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E90CD1-1F01-F1C9-D70B-D94DA987C904}"/>
                </a:ext>
              </a:extLst>
            </p:cNvPr>
            <p:cNvSpPr txBox="1"/>
            <p:nvPr/>
          </p:nvSpPr>
          <p:spPr>
            <a:xfrm>
              <a:off x="5063917" y="3474866"/>
              <a:ext cx="2052955" cy="583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MISSION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6D6E7-5FE8-57C9-FA01-0DEFF7E2B01B}"/>
                </a:ext>
              </a:extLst>
            </p:cNvPr>
            <p:cNvSpPr txBox="1"/>
            <p:nvPr/>
          </p:nvSpPr>
          <p:spPr>
            <a:xfrm>
              <a:off x="4171772" y="4848594"/>
              <a:ext cx="3802438" cy="583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VALUES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CE8850B-BD90-DBBF-1814-902ECF783366}"/>
              </a:ext>
            </a:extLst>
          </p:cNvPr>
          <p:cNvSpPr txBox="1"/>
          <p:nvPr/>
        </p:nvSpPr>
        <p:spPr>
          <a:xfrm>
            <a:off x="216226" y="1196193"/>
            <a:ext cx="1064640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Rank the guiding principles in order of importance: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#1- Vision, #2 - Mission, #3 - Values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#1- Mission, #2 - Values, #3 – Vision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#1- Values, #2 - Vision, #3 – Mission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They are equally important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endParaRPr lang="en-US" sz="32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0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612534" y="1956570"/>
            <a:ext cx="42737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Values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Guiding Principles</a:t>
            </a:r>
          </a:p>
          <a:p>
            <a:endParaRPr lang="en-US" dirty="0"/>
          </a:p>
        </p:txBody>
      </p:sp>
      <p:pic>
        <p:nvPicPr>
          <p:cNvPr id="10" name="Picture 9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3555707D-1F4D-D3C9-2066-B1BF6623F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25" y="1122598"/>
            <a:ext cx="6419116" cy="4742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3016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Vision</a:t>
            </a:r>
          </a:p>
          <a:p>
            <a:endParaRPr lang="en-US" dirty="0"/>
          </a:p>
        </p:txBody>
      </p:sp>
      <p:pic>
        <p:nvPicPr>
          <p:cNvPr id="9" name="Picture 8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EBBF595D-2139-B6B0-0DD0-9F526BB9A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28" y="1197478"/>
            <a:ext cx="5320428" cy="4667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6C7227-D798-6AF7-EC22-76934FC89D07}"/>
              </a:ext>
            </a:extLst>
          </p:cNvPr>
          <p:cNvSpPr txBox="1"/>
          <p:nvPr/>
        </p:nvSpPr>
        <p:spPr>
          <a:xfrm>
            <a:off x="285111" y="2270376"/>
            <a:ext cx="617284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Main Issue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Desired Change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Impact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Formulate vision</a:t>
            </a:r>
          </a:p>
        </p:txBody>
      </p:sp>
    </p:spTree>
    <p:extLst>
      <p:ext uri="{BB962C8B-B14F-4D97-AF65-F5344CB8AC3E}">
        <p14:creationId xmlns:p14="http://schemas.microsoft.com/office/powerpoint/2010/main" val="236335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Vision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1368796A-09FB-B68A-3903-2331AFBF92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7"/>
          <a:stretch/>
        </p:blipFill>
        <p:spPr>
          <a:xfrm>
            <a:off x="1324511" y="1258143"/>
            <a:ext cx="9542978" cy="4521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77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Mission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95E2758C-129C-56F9-5F30-F1A163441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182" y="1198850"/>
            <a:ext cx="5997523" cy="4639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741D11-1906-2662-F403-0FE4CF951295}"/>
              </a:ext>
            </a:extLst>
          </p:cNvPr>
          <p:cNvSpPr txBox="1"/>
          <p:nvPr/>
        </p:nvSpPr>
        <p:spPr>
          <a:xfrm>
            <a:off x="515470" y="2010542"/>
            <a:ext cx="519000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Why?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Who?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How?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Outcomes?</a:t>
            </a:r>
          </a:p>
        </p:txBody>
      </p:sp>
    </p:spTree>
    <p:extLst>
      <p:ext uri="{BB962C8B-B14F-4D97-AF65-F5344CB8AC3E}">
        <p14:creationId xmlns:p14="http://schemas.microsoft.com/office/powerpoint/2010/main" val="568108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Mission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3FC7D032-9951-E047-622A-A95DDC99F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52" y="1172147"/>
            <a:ext cx="9686071" cy="46927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3456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Values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275F4-B96C-71BC-259B-215D5C0A1314}"/>
              </a:ext>
            </a:extLst>
          </p:cNvPr>
          <p:cNvSpPr txBox="1"/>
          <p:nvPr/>
        </p:nvSpPr>
        <p:spPr>
          <a:xfrm>
            <a:off x="313764" y="1034741"/>
            <a:ext cx="10551459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What value would you like your organization to embody?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Creativity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Trustworthiness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Caring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Knowledgeable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Diversity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Spirituality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Environmentally Conscious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Bold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Efficient</a:t>
            </a:r>
          </a:p>
          <a:p>
            <a:pPr marL="1200150" indent="-74295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Optimistic</a:t>
            </a:r>
          </a:p>
        </p:txBody>
      </p:sp>
    </p:spTree>
    <p:extLst>
      <p:ext uri="{BB962C8B-B14F-4D97-AF65-F5344CB8AC3E}">
        <p14:creationId xmlns:p14="http://schemas.microsoft.com/office/powerpoint/2010/main" val="1088797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Values</a:t>
            </a:r>
          </a:p>
          <a:p>
            <a:endParaRPr lang="en-US" dirty="0"/>
          </a:p>
        </p:txBody>
      </p:sp>
      <p:pic>
        <p:nvPicPr>
          <p:cNvPr id="9" name="Picture 8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728B628B-0762-82CC-6590-60FE48E59F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0465"/>
          <a:stretch/>
        </p:blipFill>
        <p:spPr>
          <a:xfrm>
            <a:off x="159314" y="1575712"/>
            <a:ext cx="5874467" cy="3621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8F750AA3-0107-057F-7DD8-1EE9905343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25" b="-1"/>
          <a:stretch/>
        </p:blipFill>
        <p:spPr>
          <a:xfrm>
            <a:off x="6250383" y="1553184"/>
            <a:ext cx="5723326" cy="3666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70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Values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6E116F87-484F-A5CF-D6C3-A07067304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75" y="1117791"/>
            <a:ext cx="5341620" cy="480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4AC92B-FC5C-DF4D-AF49-3943EDC9A435}"/>
              </a:ext>
            </a:extLst>
          </p:cNvPr>
          <p:cNvSpPr txBox="1"/>
          <p:nvPr/>
        </p:nvSpPr>
        <p:spPr>
          <a:xfrm>
            <a:off x="505945" y="2010542"/>
            <a:ext cx="519000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Vision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Organization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Stakeholders</a:t>
            </a:r>
          </a:p>
        </p:txBody>
      </p:sp>
    </p:spTree>
    <p:extLst>
      <p:ext uri="{BB962C8B-B14F-4D97-AF65-F5344CB8AC3E}">
        <p14:creationId xmlns:p14="http://schemas.microsoft.com/office/powerpoint/2010/main" val="4155565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1BFCD92-0EC1-882B-E062-77E2808A710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9C183-2188-C10F-810D-9AC39AC27D0C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Guiding Principles –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 Values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E924C5C4-4FAB-FFFC-42B5-A5A245505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96112"/>
            <a:ext cx="10306050" cy="3927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004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  <a:solidFill>
            <a:srgbClr val="DD4039"/>
          </a:solidFill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  <a:grpFill/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80360" y="1347562"/>
            <a:ext cx="1081015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Staff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Donors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Clients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Board members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Executive team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General public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3D599-B7F8-0EB7-3652-C77F02661B9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0E15B-9D8C-658C-A4ED-E7B9EF97E494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Issues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Obtaining Input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45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71719" y="1297854"/>
            <a:ext cx="635597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Can identify known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Focused on fundraising, but may reveal other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Be sure to include in SWOT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4F48B-54F8-5796-B54D-4059BA6AB166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4EC32-104B-7D67-FB8C-507C0A486DD7}"/>
              </a:ext>
            </a:extLst>
          </p:cNvPr>
          <p:cNvSpPr txBox="1"/>
          <p:nvPr/>
        </p:nvSpPr>
        <p:spPr>
          <a:xfrm>
            <a:off x="762000" y="125707"/>
            <a:ext cx="1038225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POTENTIAL ISSUES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From Feedback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parallel&#10;&#10;Description automatically generated">
            <a:extLst>
              <a:ext uri="{FF2B5EF4-FFF2-40B4-BE49-F238E27FC236}">
                <a16:creationId xmlns:a16="http://schemas.microsoft.com/office/drawing/2014/main" id="{E4ACEEF8-F201-3613-A36C-CD38FE79E6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" b="-1"/>
          <a:stretch/>
        </p:blipFill>
        <p:spPr>
          <a:xfrm>
            <a:off x="7019365" y="1577788"/>
            <a:ext cx="4885764" cy="3487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1618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31694" y="1159304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Internal 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S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trengths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W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eaknesses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External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O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pportunities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u="sng" dirty="0">
                <a:solidFill>
                  <a:srgbClr val="252260"/>
                </a:solidFill>
                <a:latin typeface="Century Gothic" panose="020B0502020202020204" pitchFamily="34" charset="0"/>
              </a:rPr>
              <a:t>T</a:t>
            </a: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hreats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B85DC-06C5-C956-A08F-C57E12764BA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4B26-A4B5-A12A-6508-ED23B2929C23}"/>
              </a:ext>
            </a:extLst>
          </p:cNvPr>
          <p:cNvSpPr txBox="1"/>
          <p:nvPr/>
        </p:nvSpPr>
        <p:spPr>
          <a:xfrm>
            <a:off x="762000" y="125707"/>
            <a:ext cx="4829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ANALYSIS</a:t>
            </a:r>
            <a:endParaRPr lang="en-US" dirty="0"/>
          </a:p>
        </p:txBody>
      </p:sp>
      <p:pic>
        <p:nvPicPr>
          <p:cNvPr id="10" name="Picture 9" descr="A picture containing text, screenshot, parallel, number&#10;&#10;Description automatically generated">
            <a:extLst>
              <a:ext uri="{FF2B5EF4-FFF2-40B4-BE49-F238E27FC236}">
                <a16:creationId xmlns:a16="http://schemas.microsoft.com/office/drawing/2014/main" id="{E5726C18-BE89-4201-B301-767821279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517" y="1117791"/>
            <a:ext cx="5076481" cy="4806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097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684119" y="1336149"/>
            <a:ext cx="946392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Describe issue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Deep dive into reasons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Root cause - 5 Whys?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Adds clarity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Ideas to address issues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Evaluation - Scoring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B85DC-06C5-C956-A08F-C57E12764BA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4B26-A4B5-A12A-6508-ED23B2929C23}"/>
              </a:ext>
            </a:extLst>
          </p:cNvPr>
          <p:cNvSpPr txBox="1"/>
          <p:nvPr/>
        </p:nvSpPr>
        <p:spPr>
          <a:xfrm>
            <a:off x="762000" y="125707"/>
            <a:ext cx="4829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95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30B85DC-06C5-C956-A08F-C57E12764BA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F4B26-A4B5-A12A-6508-ED23B2929C23}"/>
              </a:ext>
            </a:extLst>
          </p:cNvPr>
          <p:cNvSpPr txBox="1"/>
          <p:nvPr/>
        </p:nvSpPr>
        <p:spPr>
          <a:xfrm>
            <a:off x="762000" y="125707"/>
            <a:ext cx="96370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ANALYSIS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- Evaluate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6A868-AC23-0F5A-DF26-BE92A5F449F3}"/>
              </a:ext>
            </a:extLst>
          </p:cNvPr>
          <p:cNvSpPr txBox="1"/>
          <p:nvPr/>
        </p:nvSpPr>
        <p:spPr>
          <a:xfrm>
            <a:off x="300318" y="1156462"/>
            <a:ext cx="1098624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Ease: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How simple or easy is it to address this issue – easier, higher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Cost: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The cost to address the issue – lower cost, higher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The impact on the organization or fundraising efforts if this issue is addressed – bigger the impact, higher the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Alignment: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000" dirty="0">
                <a:solidFill>
                  <a:srgbClr val="F18120"/>
                </a:solidFill>
                <a:latin typeface="Century Gothic" panose="020B0502020202020204" pitchFamily="34" charset="0"/>
              </a:rPr>
              <a:t>Does this issue positively affect our ability to embody our values, accomplish our mission, or  achieve our vision – more alignment, higher score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endParaRPr lang="en-US" sz="20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pPr marL="800100" indent="-342900">
              <a:spcAft>
                <a:spcPts val="6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Numbers are subjective, based on opinions of those participating </a:t>
            </a:r>
          </a:p>
          <a:p>
            <a:pPr marL="800100" indent="-342900">
              <a:spcAft>
                <a:spcPts val="6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  <a:latin typeface="Century Gothic" panose="020B0502020202020204" pitchFamily="34" charset="0"/>
              </a:rPr>
              <a:t>Higher total score = better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773386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152398" y="1843949"/>
            <a:ext cx="61811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indent="-4572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Snapshot (lagging)</a:t>
            </a:r>
          </a:p>
          <a:p>
            <a:pPr marL="627063" indent="-4572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Direction -  % or time comparison (leading)</a:t>
            </a:r>
          </a:p>
          <a:p>
            <a:pPr marL="627063" indent="-4572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What are industry averages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15AB4E-1120-BBAA-FC69-426C94D06AE2}"/>
              </a:ext>
            </a:extLst>
          </p:cNvPr>
          <p:cNvSpPr/>
          <p:nvPr/>
        </p:nvSpPr>
        <p:spPr>
          <a:xfrm>
            <a:off x="-1" y="0"/>
            <a:ext cx="12192001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9D616-80DF-DAAD-AC2F-739D95244BEA}"/>
              </a:ext>
            </a:extLst>
          </p:cNvPr>
          <p:cNvSpPr txBox="1"/>
          <p:nvPr/>
        </p:nvSpPr>
        <p:spPr>
          <a:xfrm>
            <a:off x="762000" y="125707"/>
            <a:ext cx="1114312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KPIs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Key Performance Indicators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437296D5-4422-4198-029D-6528245D5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88061"/>
            <a:ext cx="5809128" cy="3081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8619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85483" y="1347562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Review your fundraising processes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Workflows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Good KPIs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What are you doing well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Extra 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Skills &amp; experience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E2CB2-1B36-C66E-CE99-CC7DD9C42B9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62A81-632D-DDFB-A1F2-A7B91FA2A2AB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Strengths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82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39E2CB2-1B36-C66E-CE99-CC7DD9C42B9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62A81-632D-DDFB-A1F2-A7B91FA2A2AB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Strengths</a:t>
            </a:r>
          </a:p>
          <a:p>
            <a:endParaRPr lang="en-US" dirty="0"/>
          </a:p>
        </p:txBody>
      </p:sp>
      <p:pic>
        <p:nvPicPr>
          <p:cNvPr id="9" name="Picture 8" descr="A close-up of a swot analysis&#10;&#10;Description automatically generated with low confidence">
            <a:extLst>
              <a:ext uri="{FF2B5EF4-FFF2-40B4-BE49-F238E27FC236}">
                <a16:creationId xmlns:a16="http://schemas.microsoft.com/office/drawing/2014/main" id="{CCCA5D86-8097-5C67-5EA5-94C88774E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82" y="1084930"/>
            <a:ext cx="9592236" cy="4812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0724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49624" y="1241101"/>
            <a:ext cx="1111623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Identified internal issues from feedback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Poor Workflows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Unsatisfactory KPIs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Lack of technology/resources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Training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Staffing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52DEB-940E-9A5D-7A6A-6CFE186590B3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E5C60-FB6D-DFE2-28D0-8561E709B710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Weaknesses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08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4552DEB-940E-9A5D-7A6A-6CFE186590B3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E5C60-FB6D-DFE2-28D0-8561E709B710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Weaknesses</a:t>
            </a:r>
          </a:p>
          <a:p>
            <a:endParaRPr lang="en-US" dirty="0"/>
          </a:p>
        </p:txBody>
      </p:sp>
      <p:pic>
        <p:nvPicPr>
          <p:cNvPr id="9" name="Picture 8" descr="A close-up of a swot analysis report&#10;&#10;Description automatically generated with low confidence">
            <a:extLst>
              <a:ext uri="{FF2B5EF4-FFF2-40B4-BE49-F238E27FC236}">
                <a16:creationId xmlns:a16="http://schemas.microsoft.com/office/drawing/2014/main" id="{1EA12BFC-B49A-86D8-C5BC-D3F868203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297" y="1093436"/>
            <a:ext cx="9723405" cy="4850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362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421341" y="1297854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Trends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Funding 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Partnerships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Technology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Prospect research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213A5-6CFB-ADBB-DE9C-A4FD7A51738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6F96-774F-C9D0-E661-C814C55EE3B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67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48213A5-6CFB-ADBB-DE9C-A4FD7A51738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6F96-774F-C9D0-E661-C814C55EE3B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Opportunities</a:t>
            </a:r>
          </a:p>
          <a:p>
            <a:endParaRPr lang="en-US" dirty="0"/>
          </a:p>
        </p:txBody>
      </p:sp>
      <p:pic>
        <p:nvPicPr>
          <p:cNvPr id="9" name="Picture 8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579C544F-6616-A0E8-8581-C22196F44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82" y="1117791"/>
            <a:ext cx="9592237" cy="4840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787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48213A5-6CFB-ADBB-DE9C-A4FD7A51738C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C6F96-774F-C9D0-E661-C814C55EE3B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– </a:t>
            </a:r>
            <a:r>
              <a:rPr lang="en-US" sz="4400" dirty="0">
                <a:solidFill>
                  <a:srgbClr val="252260"/>
                </a:solidFill>
                <a:latin typeface="Century Gothic" panose="020B0502020202020204" pitchFamily="34" charset="0"/>
              </a:rPr>
              <a:t>Threats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98BE9-5B15-DB9F-1F96-63EF61404D8E}"/>
              </a:ext>
            </a:extLst>
          </p:cNvPr>
          <p:cNvSpPr txBox="1"/>
          <p:nvPr/>
        </p:nvSpPr>
        <p:spPr>
          <a:xfrm>
            <a:off x="439270" y="1178882"/>
            <a:ext cx="1055145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What is the biggest threat facing your organization right now?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Competition (other non-profits or for-profits)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Negative trends – politics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Negative trends - economy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Natural disasters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New government regulations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Donor/volunteer loss </a:t>
            </a:r>
          </a:p>
        </p:txBody>
      </p:sp>
    </p:spTree>
    <p:extLst>
      <p:ext uri="{BB962C8B-B14F-4D97-AF65-F5344CB8AC3E}">
        <p14:creationId xmlns:p14="http://schemas.microsoft.com/office/powerpoint/2010/main" val="104371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439271" y="1347562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Competition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Negative trends – politics/economy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Natural disasters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Government regulations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Donor/volunteer loss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Other vulnerabilities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B6D52-5564-CB1E-625F-8AAA3BE4E53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0D283-EB41-D418-1A58-3C505B8BD4D2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Threats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448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03B6D52-5564-CB1E-625F-8AAA3BE4E53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0D283-EB41-D418-1A58-3C505B8BD4D2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Threats</a:t>
            </a:r>
          </a:p>
          <a:p>
            <a:endParaRPr lang="en-US" dirty="0"/>
          </a:p>
        </p:txBody>
      </p:sp>
      <p:pic>
        <p:nvPicPr>
          <p:cNvPr id="9" name="Picture 8" descr="A close-up of a swot analysis report&#10;&#10;Description automatically generated with low confidence">
            <a:extLst>
              <a:ext uri="{FF2B5EF4-FFF2-40B4-BE49-F238E27FC236}">
                <a16:creationId xmlns:a16="http://schemas.microsoft.com/office/drawing/2014/main" id="{43D777A2-3287-54FB-CB1C-A9FB4DD2D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882" y="1117791"/>
            <a:ext cx="9592236" cy="4801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0050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358588" y="1507419"/>
            <a:ext cx="5638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Prioritize issues</a:t>
            </a:r>
          </a:p>
          <a:p>
            <a:pPr marL="1028700" indent="-571500"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Get stakeholder’s</a:t>
            </a:r>
          </a:p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     input</a:t>
            </a:r>
          </a:p>
          <a:p>
            <a:pPr marL="1028700" indent="-571500"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Validate with guiding principles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AECF3-1522-D398-A3C4-A7E89DF57322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EB658-F5FA-A27C-9BFC-867EA07E0A8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SWOT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Prioritize</a:t>
            </a:r>
          </a:p>
          <a:p>
            <a:endParaRPr lang="en-US" dirty="0"/>
          </a:p>
        </p:txBody>
      </p:sp>
      <p:pic>
        <p:nvPicPr>
          <p:cNvPr id="10" name="Picture 9" descr="A screenshot of a list&#10;&#10;Description automatically generated with low confidence">
            <a:extLst>
              <a:ext uri="{FF2B5EF4-FFF2-40B4-BE49-F238E27FC236}">
                <a16:creationId xmlns:a16="http://schemas.microsoft.com/office/drawing/2014/main" id="{9CC53142-7500-7FE2-8770-429CE92A1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790" y="1221468"/>
            <a:ext cx="5436474" cy="40497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8562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C1E0E14-CDB9-8F97-E72C-F0E33A5D6ABD}"/>
              </a:ext>
            </a:extLst>
          </p:cNvPr>
          <p:cNvSpPr txBox="1"/>
          <p:nvPr/>
        </p:nvSpPr>
        <p:spPr>
          <a:xfrm>
            <a:off x="125506" y="1271878"/>
            <a:ext cx="565672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 an objective for each priority/KPI</a:t>
            </a:r>
          </a:p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Multiple objectives For one complex SWOT issue</a:t>
            </a:r>
          </a:p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Verb + Activity + Measurable Outcome</a:t>
            </a:r>
          </a:p>
          <a:p>
            <a:pPr marL="627063" indent="-3937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Feeds Action Plan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A85BE-5028-607D-22A4-C3B91E4A9D8B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714D-39FB-6742-C270-D130E17ACAFF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OBJECTIVES</a:t>
            </a:r>
            <a:endParaRPr lang="en-US" sz="4400" dirty="0">
              <a:solidFill>
                <a:srgbClr val="F18120"/>
              </a:solidFill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pic>
        <p:nvPicPr>
          <p:cNvPr id="10" name="Picture 9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30E958B7-DDFA-880D-F4C6-BAB83A1CA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815" y="1702694"/>
            <a:ext cx="5867314" cy="34161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0EF2FAF-A61A-F7B2-1811-6C69652133C0}"/>
              </a:ext>
            </a:extLst>
          </p:cNvPr>
          <p:cNvSpPr/>
          <p:nvPr/>
        </p:nvSpPr>
        <p:spPr>
          <a:xfrm>
            <a:off x="6463553" y="4598894"/>
            <a:ext cx="1013012" cy="448235"/>
          </a:xfrm>
          <a:prstGeom prst="ellipse">
            <a:avLst/>
          </a:prstGeom>
          <a:noFill/>
          <a:ln w="38100">
            <a:solidFill>
              <a:srgbClr val="DD40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59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25A85BE-5028-607D-22A4-C3B91E4A9D8B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714D-39FB-6742-C270-D130E17ACAFF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OBJECTIVES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- Evaluate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BA469-7FF5-B373-64AF-A28E853B83C6}"/>
              </a:ext>
            </a:extLst>
          </p:cNvPr>
          <p:cNvSpPr txBox="1"/>
          <p:nvPr/>
        </p:nvSpPr>
        <p:spPr>
          <a:xfrm>
            <a:off x="286871" y="1106597"/>
            <a:ext cx="11447927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Financial 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Revenue generation or cost avoidance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Operations</a:t>
            </a:r>
            <a:r>
              <a:rPr lang="en-US" sz="2800" b="1" dirty="0">
                <a:solidFill>
                  <a:srgbClr val="F18120"/>
                </a:solidFill>
                <a:latin typeface="Century Gothic" panose="020B0502020202020204" pitchFamily="34" charset="0"/>
              </a:rPr>
              <a:t> </a:t>
            </a: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More efficient activities or better delivery of service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Personnel 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Improves culture, communication, or </a:t>
            </a:r>
            <a:r>
              <a:rPr lang="en-US" sz="2400">
                <a:solidFill>
                  <a:srgbClr val="F18120"/>
                </a:solidFill>
                <a:latin typeface="Century Gothic" panose="020B0502020202020204" pitchFamily="34" charset="0"/>
              </a:rPr>
              <a:t>leadership and staff </a:t>
            </a: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skills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Social Impact: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Improves ability to serve clients – directly moving closer to vision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Risk: </a:t>
            </a:r>
          </a:p>
          <a:p>
            <a:pPr marL="457200">
              <a:spcAft>
                <a:spcPts val="600"/>
              </a:spcAft>
              <a:buClr>
                <a:srgbClr val="EE4238"/>
              </a:buClr>
            </a:pPr>
            <a:r>
              <a:rPr lang="en-US" sz="2400" dirty="0">
                <a:solidFill>
                  <a:srgbClr val="F18120"/>
                </a:solidFill>
                <a:latin typeface="Century Gothic" panose="020B0502020202020204" pitchFamily="34" charset="0"/>
              </a:rPr>
              <a:t>Level of effort, scope, criticality of activities affected, or potential for unexpected outcome</a:t>
            </a:r>
            <a:endParaRPr lang="en-US" sz="2400" dirty="0">
              <a:solidFill>
                <a:srgbClr val="25226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751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25A85BE-5028-607D-22A4-C3B91E4A9D8B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714D-39FB-6742-C270-D130E17ACAFF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STRATEGIC OBJECTIVES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- Score</a:t>
            </a:r>
          </a:p>
          <a:p>
            <a:endParaRPr lang="en-US" dirty="0"/>
          </a:p>
        </p:txBody>
      </p:sp>
      <p:pic>
        <p:nvPicPr>
          <p:cNvPr id="8" name="Picture 7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9E991F2F-58DD-FF29-1D30-0F44BA931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505" y="1084931"/>
            <a:ext cx="7926990" cy="4978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883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BD3573-9CC9-2C55-D5D7-AC96973E22FF}"/>
              </a:ext>
            </a:extLst>
          </p:cNvPr>
          <p:cNvSpPr txBox="1"/>
          <p:nvPr/>
        </p:nvSpPr>
        <p:spPr>
          <a:xfrm>
            <a:off x="-105335" y="1702517"/>
            <a:ext cx="5925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Operating Budget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Capital Projects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Complete after SWOT &amp; priorities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D65353-824B-B21F-84DB-7C9E6429327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8A5A8-D4C3-498C-656C-D3184992808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Financial Situation</a:t>
            </a:r>
          </a:p>
          <a:p>
            <a:endParaRPr lang="en-US" dirty="0"/>
          </a:p>
        </p:txBody>
      </p:sp>
      <p:pic>
        <p:nvPicPr>
          <p:cNvPr id="10" name="Picture 9" descr="A picture containing text, screenshot, number, parallel&#10;&#10;Description automatically generated">
            <a:extLst>
              <a:ext uri="{FF2B5EF4-FFF2-40B4-BE49-F238E27FC236}">
                <a16:creationId xmlns:a16="http://schemas.microsoft.com/office/drawing/2014/main" id="{0C5C0D7C-FAAF-41ED-9A29-55F9BBA39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151" y="1284202"/>
            <a:ext cx="6463046" cy="3687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207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4D65353-824B-B21F-84DB-7C9E64293274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8A5A8-D4C3-498C-656C-D31849928083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STRATEGY 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Executive Summary</a:t>
            </a:r>
          </a:p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92BCDA-EDF3-2602-FECD-931CAF2E2A56}"/>
              </a:ext>
            </a:extLst>
          </p:cNvPr>
          <p:cNvGrpSpPr/>
          <p:nvPr/>
        </p:nvGrpSpPr>
        <p:grpSpPr>
          <a:xfrm>
            <a:off x="1551352" y="3774884"/>
            <a:ext cx="9089296" cy="2145542"/>
            <a:chOff x="1735497" y="3756954"/>
            <a:chExt cx="9089296" cy="2145542"/>
          </a:xfrm>
        </p:grpSpPr>
        <p:pic>
          <p:nvPicPr>
            <p:cNvPr id="9" name="Picture 8" descr="A picture containing text, font, line, screenshot&#10;&#10;Description automatically generated">
              <a:extLst>
                <a:ext uri="{FF2B5EF4-FFF2-40B4-BE49-F238E27FC236}">
                  <a16:creationId xmlns:a16="http://schemas.microsoft.com/office/drawing/2014/main" id="{4E431D33-0D75-1F6C-7939-C56DEC7C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5497" y="3756954"/>
              <a:ext cx="9089296" cy="214554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4410A0-2D1B-B5E9-86E2-280F49BB6568}"/>
                </a:ext>
              </a:extLst>
            </p:cNvPr>
            <p:cNvSpPr/>
            <p:nvPr/>
          </p:nvSpPr>
          <p:spPr>
            <a:xfrm>
              <a:off x="2653553" y="4150659"/>
              <a:ext cx="1255059" cy="367553"/>
            </a:xfrm>
            <a:prstGeom prst="ellipse">
              <a:avLst/>
            </a:prstGeom>
            <a:noFill/>
            <a:ln w="57150">
              <a:solidFill>
                <a:srgbClr val="DD40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D289C1-38A5-2DB1-E8B3-22741B14F4A1}"/>
                </a:ext>
              </a:extLst>
            </p:cNvPr>
            <p:cNvSpPr/>
            <p:nvPr/>
          </p:nvSpPr>
          <p:spPr>
            <a:xfrm>
              <a:off x="4930588" y="4150659"/>
              <a:ext cx="1927412" cy="367553"/>
            </a:xfrm>
            <a:prstGeom prst="ellipse">
              <a:avLst/>
            </a:prstGeom>
            <a:noFill/>
            <a:ln w="57150">
              <a:solidFill>
                <a:srgbClr val="DD40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5268EB-4A2C-A242-2D7C-67B05C51A986}"/>
                </a:ext>
              </a:extLst>
            </p:cNvPr>
            <p:cNvSpPr/>
            <p:nvPr/>
          </p:nvSpPr>
          <p:spPr>
            <a:xfrm>
              <a:off x="7319683" y="4343400"/>
              <a:ext cx="2747681" cy="488576"/>
            </a:xfrm>
            <a:prstGeom prst="ellipse">
              <a:avLst/>
            </a:prstGeom>
            <a:noFill/>
            <a:ln w="57150">
              <a:solidFill>
                <a:srgbClr val="DD40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706250-E683-00E4-E690-0C5544A09EFC}"/>
              </a:ext>
            </a:extLst>
          </p:cNvPr>
          <p:cNvSpPr txBox="1"/>
          <p:nvPr/>
        </p:nvSpPr>
        <p:spPr>
          <a:xfrm>
            <a:off x="318246" y="1107555"/>
            <a:ext cx="109055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Summarize overall direction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One or two sentences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Be specific</a:t>
            </a:r>
          </a:p>
        </p:txBody>
      </p:sp>
    </p:spTree>
    <p:extLst>
      <p:ext uri="{BB962C8B-B14F-4D97-AF65-F5344CB8AC3E}">
        <p14:creationId xmlns:p14="http://schemas.microsoft.com/office/powerpoint/2010/main" val="3719871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5" y="2151081"/>
            <a:ext cx="11161770" cy="251215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F18120"/>
                </a:solidFill>
                <a:latin typeface="Century Gothic" panose="020B0502020202020204" pitchFamily="34" charset="0"/>
              </a:rPr>
              <a:t>Watch the video and download the free Excel worksheet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Donorview.com/AFPwebinar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Register at AFP Global for next webinar on August 17</a:t>
            </a:r>
            <a:r>
              <a:rPr lang="en-US" b="1" baseline="30000" dirty="0">
                <a:solidFill>
                  <a:srgbClr val="252260"/>
                </a:solidFill>
                <a:latin typeface="Century Gothic" panose="020B0502020202020204" pitchFamily="34" charset="0"/>
              </a:rPr>
              <a:t>th</a:t>
            </a:r>
            <a:b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Annual Fundraising </a:t>
            </a:r>
            <a:r>
              <a:rPr lang="en-US" b="1">
                <a:solidFill>
                  <a:srgbClr val="252260"/>
                </a:solidFill>
                <a:latin typeface="Century Gothic" panose="020B0502020202020204" pitchFamily="34" charset="0"/>
              </a:rPr>
              <a:t>Plan - Deep </a:t>
            </a:r>
            <a:r>
              <a:rPr lang="en-US" b="1" dirty="0">
                <a:solidFill>
                  <a:srgbClr val="252260"/>
                </a:solidFill>
                <a:latin typeface="Century Gothic" panose="020B0502020202020204" pitchFamily="34" charset="0"/>
              </a:rPr>
              <a:t>Dive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0CEC2D-EB88-82D9-5C02-C041D5872146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2" name="Rectangle 24">
              <a:extLst>
                <a:ext uri="{FF2B5EF4-FFF2-40B4-BE49-F238E27FC236}">
                  <a16:creationId xmlns:a16="http://schemas.microsoft.com/office/drawing/2014/main" id="{3FFEAEAC-2037-743E-7FB7-9B4EF1FA8CA8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B071A1-77DB-7615-D5C2-DEB969E39E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CEE15B-8725-511D-153C-590B508B3BA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4F970-0350-282B-F710-2E27C309A1AD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Next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59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D319DC05-FDC1-B73F-951D-DB4E518832B5}"/>
              </a:ext>
            </a:extLst>
          </p:cNvPr>
          <p:cNvSpPr/>
          <p:nvPr/>
        </p:nvSpPr>
        <p:spPr>
          <a:xfrm flipV="1">
            <a:off x="-62142" y="-26632"/>
            <a:ext cx="7368377" cy="6884630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  <a:gd name="connsiteX0" fmla="*/ 0 w 7354734"/>
              <a:gd name="connsiteY0" fmla="*/ 8876 h 6866876"/>
              <a:gd name="connsiteX1" fmla="*/ 7354734 w 7354734"/>
              <a:gd name="connsiteY1" fmla="*/ 0 h 6866876"/>
              <a:gd name="connsiteX2" fmla="*/ 6986726 w 7354734"/>
              <a:gd name="connsiteY2" fmla="*/ 6866876 h 6866876"/>
              <a:gd name="connsiteX3" fmla="*/ 0 w 7354734"/>
              <a:gd name="connsiteY3" fmla="*/ 6866876 h 6866876"/>
              <a:gd name="connsiteX4" fmla="*/ 0 w 7354734"/>
              <a:gd name="connsiteY4" fmla="*/ 8876 h 6866876"/>
              <a:gd name="connsiteX0" fmla="*/ 0 w 7119243"/>
              <a:gd name="connsiteY0" fmla="*/ 44387 h 6902387"/>
              <a:gd name="connsiteX1" fmla="*/ 7119243 w 7119243"/>
              <a:gd name="connsiteY1" fmla="*/ 0 h 6902387"/>
              <a:gd name="connsiteX2" fmla="*/ 6986726 w 7119243"/>
              <a:gd name="connsiteY2" fmla="*/ 6902387 h 6902387"/>
              <a:gd name="connsiteX3" fmla="*/ 0 w 7119243"/>
              <a:gd name="connsiteY3" fmla="*/ 6902387 h 6902387"/>
              <a:gd name="connsiteX4" fmla="*/ 0 w 7119243"/>
              <a:gd name="connsiteY4" fmla="*/ 44387 h 6902387"/>
              <a:gd name="connsiteX0" fmla="*/ 0 w 7147502"/>
              <a:gd name="connsiteY0" fmla="*/ 8876 h 6866876"/>
              <a:gd name="connsiteX1" fmla="*/ 7147502 w 7147502"/>
              <a:gd name="connsiteY1" fmla="*/ 0 h 6866876"/>
              <a:gd name="connsiteX2" fmla="*/ 6986726 w 7147502"/>
              <a:gd name="connsiteY2" fmla="*/ 6866876 h 6866876"/>
              <a:gd name="connsiteX3" fmla="*/ 0 w 7147502"/>
              <a:gd name="connsiteY3" fmla="*/ 6866876 h 6866876"/>
              <a:gd name="connsiteX4" fmla="*/ 0 w 7147502"/>
              <a:gd name="connsiteY4" fmla="*/ 8876 h 6866876"/>
              <a:gd name="connsiteX0" fmla="*/ 0 w 7693197"/>
              <a:gd name="connsiteY0" fmla="*/ 8876 h 6866876"/>
              <a:gd name="connsiteX1" fmla="*/ 7147502 w 7693197"/>
              <a:gd name="connsiteY1" fmla="*/ 0 h 6866876"/>
              <a:gd name="connsiteX2" fmla="*/ 7693197 w 7693197"/>
              <a:gd name="connsiteY2" fmla="*/ 6849121 h 6866876"/>
              <a:gd name="connsiteX3" fmla="*/ 0 w 7693197"/>
              <a:gd name="connsiteY3" fmla="*/ 6866876 h 6866876"/>
              <a:gd name="connsiteX4" fmla="*/ 0 w 7693197"/>
              <a:gd name="connsiteY4" fmla="*/ 8876 h 6866876"/>
              <a:gd name="connsiteX0" fmla="*/ 0 w 8192437"/>
              <a:gd name="connsiteY0" fmla="*/ 8876 h 6866876"/>
              <a:gd name="connsiteX1" fmla="*/ 7147502 w 8192437"/>
              <a:gd name="connsiteY1" fmla="*/ 0 h 6866876"/>
              <a:gd name="connsiteX2" fmla="*/ 8192437 w 8192437"/>
              <a:gd name="connsiteY2" fmla="*/ 6840277 h 6866876"/>
              <a:gd name="connsiteX3" fmla="*/ 0 w 8192437"/>
              <a:gd name="connsiteY3" fmla="*/ 6866876 h 6866876"/>
              <a:gd name="connsiteX4" fmla="*/ 0 w 8192437"/>
              <a:gd name="connsiteY4" fmla="*/ 8876 h 6866876"/>
              <a:gd name="connsiteX0" fmla="*/ 0 w 8192437"/>
              <a:gd name="connsiteY0" fmla="*/ 32 h 6858032"/>
              <a:gd name="connsiteX1" fmla="*/ 6949691 w 8192437"/>
              <a:gd name="connsiteY1" fmla="*/ 0 h 6858032"/>
              <a:gd name="connsiteX2" fmla="*/ 8192437 w 8192437"/>
              <a:gd name="connsiteY2" fmla="*/ 6831433 h 6858032"/>
              <a:gd name="connsiteX3" fmla="*/ 0 w 8192437"/>
              <a:gd name="connsiteY3" fmla="*/ 6858032 h 6858032"/>
              <a:gd name="connsiteX4" fmla="*/ 0 w 8192437"/>
              <a:gd name="connsiteY4" fmla="*/ 32 h 68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2437" h="6858032">
                <a:moveTo>
                  <a:pt x="0" y="32"/>
                </a:moveTo>
                <a:lnTo>
                  <a:pt x="6949691" y="0"/>
                </a:lnTo>
                <a:lnTo>
                  <a:pt x="8192437" y="6831433"/>
                </a:lnTo>
                <a:lnTo>
                  <a:pt x="0" y="6858032"/>
                </a:lnTo>
                <a:lnTo>
                  <a:pt x="0" y="32"/>
                </a:lnTo>
                <a:close/>
              </a:path>
            </a:pathLst>
          </a:custGeom>
          <a:solidFill>
            <a:srgbClr val="DD403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514A7-E9E7-2DBD-2745-24E341276160}"/>
              </a:ext>
            </a:extLst>
          </p:cNvPr>
          <p:cNvSpPr/>
          <p:nvPr/>
        </p:nvSpPr>
        <p:spPr>
          <a:xfrm>
            <a:off x="-62142" y="-13317"/>
            <a:ext cx="7135295" cy="6871317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6726" h="6884632">
                <a:moveTo>
                  <a:pt x="0" y="26632"/>
                </a:moveTo>
                <a:lnTo>
                  <a:pt x="5433133" y="0"/>
                </a:lnTo>
                <a:lnTo>
                  <a:pt x="6986726" y="6884632"/>
                </a:lnTo>
                <a:lnTo>
                  <a:pt x="0" y="6884632"/>
                </a:lnTo>
                <a:lnTo>
                  <a:pt x="0" y="26632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10" y="741447"/>
            <a:ext cx="6639789" cy="1325563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31A6-B52D-4E67-47F7-49384C60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25" y="4560544"/>
            <a:ext cx="4878861" cy="1848053"/>
          </a:xfrm>
        </p:spPr>
        <p:txBody>
          <a:bodyPr>
            <a:noAutofit/>
          </a:bodyPr>
          <a:lstStyle/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 Us: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508-205-0243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sales@donorview.com</a:t>
            </a: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</a:t>
            </a: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Qr code&#10;&#10;Description automatically generated">
            <a:extLst>
              <a:ext uri="{FF2B5EF4-FFF2-40B4-BE49-F238E27FC236}">
                <a16:creationId xmlns:a16="http://schemas.microsoft.com/office/drawing/2014/main" id="{A1375A32-EE66-AE62-3545-E268A6BEC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1865" y="2154865"/>
            <a:ext cx="2548271" cy="2548271"/>
          </a:xfrm>
          <a:prstGeom prst="rect">
            <a:avLst/>
          </a:prstGeom>
          <a:ln>
            <a:solidFill>
              <a:srgbClr val="DD403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52E330-CABC-AE96-4693-CF62BAEF7555}"/>
              </a:ext>
            </a:extLst>
          </p:cNvPr>
          <p:cNvSpPr txBox="1"/>
          <p:nvPr/>
        </p:nvSpPr>
        <p:spPr>
          <a:xfrm>
            <a:off x="7508039" y="1963048"/>
            <a:ext cx="4385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DD4039"/>
                </a:solidFill>
                <a:latin typeface="Century Gothic" panose="020B0502020202020204" pitchFamily="34" charset="0"/>
              </a:rPr>
              <a:t>Request a Demo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04A34-5D04-712E-8764-84E80196CA02}"/>
              </a:ext>
            </a:extLst>
          </p:cNvPr>
          <p:cNvSpPr txBox="1"/>
          <p:nvPr/>
        </p:nvSpPr>
        <p:spPr>
          <a:xfrm>
            <a:off x="7979876" y="4272249"/>
            <a:ext cx="34416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DD4039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DonorView.com/Demo</a:t>
            </a:r>
            <a:endParaRPr lang="en-US" sz="2200" dirty="0">
              <a:solidFill>
                <a:srgbClr val="DD4039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CD18-1163-EE5A-7C53-72742ECA6B62}"/>
              </a:ext>
            </a:extLst>
          </p:cNvPr>
          <p:cNvSpPr txBox="1"/>
          <p:nvPr/>
        </p:nvSpPr>
        <p:spPr>
          <a:xfrm>
            <a:off x="8097466" y="2736502"/>
            <a:ext cx="32065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Scan</a:t>
            </a: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 to visit our website and set</a:t>
            </a:r>
            <a:b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</a:b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up a free </a:t>
            </a:r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demo!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78BEF5-E425-8AA4-CF3B-AC72594A49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6984" y="6009449"/>
            <a:ext cx="3635406" cy="5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9715</TotalTime>
  <Words>856</Words>
  <Application>Microsoft Office PowerPoint</Application>
  <PresentationFormat>Widescreen</PresentationFormat>
  <Paragraphs>208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Century 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Watch the video and download the free Excel worksheet Donorview.com/AFPwebinar  Register at AFP Global for next webinar on August 17th Annual Fundraising Plan - Deep Dive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 Perron</dc:creator>
  <cp:lastModifiedBy>Kimberly Perron</cp:lastModifiedBy>
  <cp:revision>8</cp:revision>
  <dcterms:created xsi:type="dcterms:W3CDTF">2023-02-27T13:46:23Z</dcterms:created>
  <dcterms:modified xsi:type="dcterms:W3CDTF">2023-07-26T12:58:29Z</dcterms:modified>
</cp:coreProperties>
</file>