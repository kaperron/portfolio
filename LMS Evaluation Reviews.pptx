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19"/>
  </p:notesMasterIdLst>
  <p:handoutMasterIdLst>
    <p:handoutMasterId r:id="rId20"/>
  </p:handoutMasterIdLst>
  <p:sldIdLst>
    <p:sldId id="410" r:id="rId5"/>
    <p:sldId id="383" r:id="rId6"/>
    <p:sldId id="391" r:id="rId7"/>
    <p:sldId id="411" r:id="rId8"/>
    <p:sldId id="412" r:id="rId9"/>
    <p:sldId id="405" r:id="rId10"/>
    <p:sldId id="413" r:id="rId11"/>
    <p:sldId id="404" r:id="rId12"/>
    <p:sldId id="415" r:id="rId13"/>
    <p:sldId id="416" r:id="rId14"/>
    <p:sldId id="417" r:id="rId15"/>
    <p:sldId id="418" r:id="rId16"/>
    <p:sldId id="419" r:id="rId17"/>
    <p:sldId id="420"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A107856-5554-42FB-B03E-39F5DBC370B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6327" autoAdjust="0"/>
  </p:normalViewPr>
  <p:slideViewPr>
    <p:cSldViewPr snapToGrid="0">
      <p:cViewPr varScale="1">
        <p:scale>
          <a:sx n="99" d="100"/>
          <a:sy n="99" d="100"/>
        </p:scale>
        <p:origin x="948" y="30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58" d="100"/>
          <a:sy n="58" d="100"/>
        </p:scale>
        <p:origin x="3240"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8F6756E-81DA-9FAC-70D8-556F658BDD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EBEDD12-BCD5-485B-BCBC-34BB01D7923C}" type="datetimeFigureOut">
              <a:rPr lang="en-US" smtClean="0"/>
              <a:t>4/19/2026</a:t>
            </a:fld>
            <a:endParaRPr lang="en-US" dirty="0"/>
          </a:p>
        </p:txBody>
      </p:sp>
      <p:sp>
        <p:nvSpPr>
          <p:cNvPr id="6" name="Slide Number Placeholder 5">
            <a:extLst>
              <a:ext uri="{FF2B5EF4-FFF2-40B4-BE49-F238E27FC236}">
                <a16:creationId xmlns:a16="http://schemas.microsoft.com/office/drawing/2014/main" id="{A771D415-D05A-7067-CCD3-457153D96C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C230DF-5933-439D-898F-38E9AC9BA688}" type="slidenum">
              <a:rPr lang="en-US" smtClean="0"/>
              <a:t>‹#›</a:t>
            </a:fld>
            <a:endParaRPr lang="en-US" dirty="0"/>
          </a:p>
        </p:txBody>
      </p:sp>
      <p:sp>
        <p:nvSpPr>
          <p:cNvPr id="7" name="Footer Placeholder 6">
            <a:extLst>
              <a:ext uri="{FF2B5EF4-FFF2-40B4-BE49-F238E27FC236}">
                <a16:creationId xmlns:a16="http://schemas.microsoft.com/office/drawing/2014/main" id="{B97095E3-54D2-CFD2-4F49-7536FC8641D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8" name="Header Placeholder 7">
            <a:extLst>
              <a:ext uri="{FF2B5EF4-FFF2-40B4-BE49-F238E27FC236}">
                <a16:creationId xmlns:a16="http://schemas.microsoft.com/office/drawing/2014/main" id="{521EE01A-C0B5-5ECF-96DD-768F86AA15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E7A52F-9D89-7442-A8E9-48D1527B5F6B}" type="datetimeFigureOut">
              <a:rPr lang="en-US" smtClean="0"/>
              <a:t>4/19/2026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9C7E07-3C67-C64C-8DA0-0404F6303970}" type="slidenum">
              <a:rPr lang="en-US" smtClean="0"/>
              <a:t>‹#›</a:t>
            </a:fld>
            <a:endParaRPr lang="en-US" dirty="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a:t>
            </a:fld>
            <a:endParaRPr lang="en-US" dirty="0"/>
          </a:p>
        </p:txBody>
      </p:sp>
    </p:spTree>
    <p:extLst>
      <p:ext uri="{BB962C8B-B14F-4D97-AF65-F5344CB8AC3E}">
        <p14:creationId xmlns:p14="http://schemas.microsoft.com/office/powerpoint/2010/main" val="1092453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2</a:t>
            </a:fld>
            <a:endParaRPr lang="en-US" dirty="0"/>
          </a:p>
        </p:txBody>
      </p:sp>
    </p:spTree>
    <p:extLst>
      <p:ext uri="{BB962C8B-B14F-4D97-AF65-F5344CB8AC3E}">
        <p14:creationId xmlns:p14="http://schemas.microsoft.com/office/powerpoint/2010/main" val="31134168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3</a:t>
            </a:fld>
            <a:endParaRPr lang="en-US" dirty="0"/>
          </a:p>
        </p:txBody>
      </p:sp>
    </p:spTree>
    <p:extLst>
      <p:ext uri="{BB962C8B-B14F-4D97-AF65-F5344CB8AC3E}">
        <p14:creationId xmlns:p14="http://schemas.microsoft.com/office/powerpoint/2010/main" val="39082765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7EF797-8ECA-DBB9-FFFC-97B20E132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295496-58E0-EE15-5337-7E9E8C6E32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1CE749-561F-A213-455B-5FCB0BAF885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E922022-75E2-EDE7-68E9-6A99AF6300B6}"/>
              </a:ext>
            </a:extLst>
          </p:cNvPr>
          <p:cNvSpPr>
            <a:spLocks noGrp="1"/>
          </p:cNvSpPr>
          <p:nvPr>
            <p:ph type="sldNum" sz="quarter" idx="5"/>
          </p:nvPr>
        </p:nvSpPr>
        <p:spPr/>
        <p:txBody>
          <a:bodyPr/>
          <a:lstStyle/>
          <a:p>
            <a:fld id="{A89C7E07-3C67-C64C-8DA0-0404F6303970}" type="slidenum">
              <a:rPr lang="en-US" smtClean="0"/>
              <a:t>4</a:t>
            </a:fld>
            <a:endParaRPr lang="en-US" dirty="0"/>
          </a:p>
        </p:txBody>
      </p:sp>
    </p:spTree>
    <p:extLst>
      <p:ext uri="{BB962C8B-B14F-4D97-AF65-F5344CB8AC3E}">
        <p14:creationId xmlns:p14="http://schemas.microsoft.com/office/powerpoint/2010/main" val="22169162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6</a:t>
            </a:fld>
            <a:endParaRPr lang="en-US" dirty="0"/>
          </a:p>
        </p:txBody>
      </p:sp>
    </p:spTree>
    <p:extLst>
      <p:ext uri="{BB962C8B-B14F-4D97-AF65-F5344CB8AC3E}">
        <p14:creationId xmlns:p14="http://schemas.microsoft.com/office/powerpoint/2010/main" val="40502331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A858B-1672-C460-82CE-050A320AAD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B94E32-C601-5F6F-F1C7-218E6E28F8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B0E6F8-A23C-61EC-C363-5FF790518A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60142E6-9B0D-AA47-EA29-20FDAF425512}"/>
              </a:ext>
            </a:extLst>
          </p:cNvPr>
          <p:cNvSpPr>
            <a:spLocks noGrp="1"/>
          </p:cNvSpPr>
          <p:nvPr>
            <p:ph type="sldNum" sz="quarter" idx="5"/>
          </p:nvPr>
        </p:nvSpPr>
        <p:spPr/>
        <p:txBody>
          <a:bodyPr/>
          <a:lstStyle/>
          <a:p>
            <a:fld id="{A89C7E07-3C67-C64C-8DA0-0404F6303970}" type="slidenum">
              <a:rPr lang="en-US" smtClean="0"/>
              <a:t>7</a:t>
            </a:fld>
            <a:endParaRPr lang="en-US" dirty="0"/>
          </a:p>
        </p:txBody>
      </p:sp>
    </p:spTree>
    <p:extLst>
      <p:ext uri="{BB962C8B-B14F-4D97-AF65-F5344CB8AC3E}">
        <p14:creationId xmlns:p14="http://schemas.microsoft.com/office/powerpoint/2010/main" val="41076148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8</a:t>
            </a:fld>
            <a:endParaRPr lang="en-US" dirty="0"/>
          </a:p>
        </p:txBody>
      </p:sp>
    </p:spTree>
    <p:extLst>
      <p:ext uri="{BB962C8B-B14F-4D97-AF65-F5344CB8AC3E}">
        <p14:creationId xmlns:p14="http://schemas.microsoft.com/office/powerpoint/2010/main" val="6345968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1B3DD-924E-A97E-6F73-CFEA31E1E2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307B47-1740-1F7A-BF73-FFBF948396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4930E8-A347-A8C8-81CB-267FA602BA9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1670D1-90A5-DC9B-69A1-111E810B7182}"/>
              </a:ext>
            </a:extLst>
          </p:cNvPr>
          <p:cNvSpPr>
            <a:spLocks noGrp="1"/>
          </p:cNvSpPr>
          <p:nvPr>
            <p:ph type="sldNum" sz="quarter" idx="5"/>
          </p:nvPr>
        </p:nvSpPr>
        <p:spPr/>
        <p:txBody>
          <a:bodyPr/>
          <a:lstStyle/>
          <a:p>
            <a:fld id="{A89C7E07-3C67-C64C-8DA0-0404F6303970}" type="slidenum">
              <a:rPr lang="en-US" smtClean="0"/>
              <a:t>9</a:t>
            </a:fld>
            <a:endParaRPr lang="en-US" dirty="0"/>
          </a:p>
        </p:txBody>
      </p:sp>
    </p:spTree>
    <p:extLst>
      <p:ext uri="{BB962C8B-B14F-4D97-AF65-F5344CB8AC3E}">
        <p14:creationId xmlns:p14="http://schemas.microsoft.com/office/powerpoint/2010/main" val="8233814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6D52F-4358-A856-BB67-01BB63C7D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C2CB24-CD76-7698-F9A5-DDE877F344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218916-0E8A-6D96-0182-D36412A199A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756E8F6-263F-4759-5925-FEE576D056FC}"/>
              </a:ext>
            </a:extLst>
          </p:cNvPr>
          <p:cNvSpPr>
            <a:spLocks noGrp="1"/>
          </p:cNvSpPr>
          <p:nvPr>
            <p:ph type="sldNum" sz="quarter" idx="5"/>
          </p:nvPr>
        </p:nvSpPr>
        <p:spPr/>
        <p:txBody>
          <a:bodyPr/>
          <a:lstStyle/>
          <a:p>
            <a:fld id="{A89C7E07-3C67-C64C-8DA0-0404F6303970}" type="slidenum">
              <a:rPr lang="en-US" smtClean="0"/>
              <a:t>10</a:t>
            </a:fld>
            <a:endParaRPr lang="en-US" dirty="0"/>
          </a:p>
        </p:txBody>
      </p:sp>
    </p:spTree>
    <p:extLst>
      <p:ext uri="{BB962C8B-B14F-4D97-AF65-F5344CB8AC3E}">
        <p14:creationId xmlns:p14="http://schemas.microsoft.com/office/powerpoint/2010/main" val="24953307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C8CFD-837D-22B0-1FC6-266FD63D42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095024-04A5-9AA7-FCEA-0234C7DF6B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F47FAD-E100-007E-4D5B-5D21570D712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2B81D16-BB19-02B0-A4ED-AC1A14B3EE51}"/>
              </a:ext>
            </a:extLst>
          </p:cNvPr>
          <p:cNvSpPr>
            <a:spLocks noGrp="1"/>
          </p:cNvSpPr>
          <p:nvPr>
            <p:ph type="sldNum" sz="quarter" idx="5"/>
          </p:nvPr>
        </p:nvSpPr>
        <p:spPr/>
        <p:txBody>
          <a:bodyPr/>
          <a:lstStyle/>
          <a:p>
            <a:fld id="{A89C7E07-3C67-C64C-8DA0-0404F6303970}" type="slidenum">
              <a:rPr lang="en-US" smtClean="0"/>
              <a:t>11</a:t>
            </a:fld>
            <a:endParaRPr lang="en-US" dirty="0"/>
          </a:p>
        </p:txBody>
      </p:sp>
    </p:spTree>
    <p:extLst>
      <p:ext uri="{BB962C8B-B14F-4D97-AF65-F5344CB8AC3E}">
        <p14:creationId xmlns:p14="http://schemas.microsoft.com/office/powerpoint/2010/main" val="40131747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3B0CC-F77D-E040-D2EF-23DAAD4942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261969-59F5-521A-9299-D6EFAF1D6E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3284FB-552B-0D08-5C1F-20849FBD1C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8D1902D-1EE5-82C4-CAAE-5F315B30B667}"/>
              </a:ext>
            </a:extLst>
          </p:cNvPr>
          <p:cNvSpPr>
            <a:spLocks noGrp="1"/>
          </p:cNvSpPr>
          <p:nvPr>
            <p:ph type="sldNum" sz="quarter" idx="5"/>
          </p:nvPr>
        </p:nvSpPr>
        <p:spPr/>
        <p:txBody>
          <a:bodyPr/>
          <a:lstStyle/>
          <a:p>
            <a:fld id="{A89C7E07-3C67-C64C-8DA0-0404F6303970}" type="slidenum">
              <a:rPr lang="en-US" smtClean="0"/>
              <a:t>12</a:t>
            </a:fld>
            <a:endParaRPr lang="en-US" dirty="0"/>
          </a:p>
        </p:txBody>
      </p:sp>
    </p:spTree>
    <p:extLst>
      <p:ext uri="{BB962C8B-B14F-4D97-AF65-F5344CB8AC3E}">
        <p14:creationId xmlns:p14="http://schemas.microsoft.com/office/powerpoint/2010/main" val="40479849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2FD48-6000-8C7F-5EC3-62AFA1856F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F80556-5557-40F0-3701-BF0D728163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CD3F46-D211-8CEE-9EF6-2072B7B59B9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46EB3D9-DD6B-17BF-E2C3-6EC5CCB9B861}"/>
              </a:ext>
            </a:extLst>
          </p:cNvPr>
          <p:cNvSpPr>
            <a:spLocks noGrp="1"/>
          </p:cNvSpPr>
          <p:nvPr>
            <p:ph type="sldNum" sz="quarter" idx="5"/>
          </p:nvPr>
        </p:nvSpPr>
        <p:spPr/>
        <p:txBody>
          <a:bodyPr/>
          <a:lstStyle/>
          <a:p>
            <a:fld id="{A89C7E07-3C67-C64C-8DA0-0404F6303970}" type="slidenum">
              <a:rPr lang="en-US" smtClean="0"/>
              <a:t>13</a:t>
            </a:fld>
            <a:endParaRPr lang="en-US" dirty="0"/>
          </a:p>
        </p:txBody>
      </p:sp>
    </p:spTree>
    <p:extLst>
      <p:ext uri="{BB962C8B-B14F-4D97-AF65-F5344CB8AC3E}">
        <p14:creationId xmlns:p14="http://schemas.microsoft.com/office/powerpoint/2010/main" val="18690111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41327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06C6F65-35CD-D64B-992A-0C1C1E00384D}"/>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7" name="AutoShape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8" name="Freeform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9" name="Freeform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0" name="Freeform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2" name="Title 1">
            <a:extLst>
              <a:ext uri="{FF2B5EF4-FFF2-40B4-BE49-F238E27FC236}">
                <a16:creationId xmlns:a16="http://schemas.microsoft.com/office/drawing/2014/main" id="{39F93F26-ED5C-E74E-BFBD-E3054DC1B9C1}"/>
              </a:ext>
            </a:extLst>
          </p:cNvPr>
          <p:cNvSpPr>
            <a:spLocks noGrp="1"/>
          </p:cNvSpPr>
          <p:nvPr>
            <p:ph type="title" hasCustomPrompt="1"/>
          </p:nvPr>
        </p:nvSpPr>
        <p:spPr>
          <a:xfrm>
            <a:off x="594360" y="189572"/>
            <a:ext cx="6787747" cy="1593507"/>
          </a:xfrm>
          <a:prstGeom prst="rect">
            <a:avLst/>
          </a:prstGeom>
        </p:spPr>
        <p:txBody>
          <a:bodyPr lIns="0" tIns="0" rIns="0" bIns="0" anchor="b" anchorCtr="0">
            <a:noAutofit/>
          </a:bodyPr>
          <a:lstStyle>
            <a:lvl1pPr>
              <a:defRPr sz="4400" b="1" i="0" spc="50" baseline="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186153BD-9D2B-47EB-3553-1D3F6663B2A3}"/>
              </a:ext>
            </a:extLst>
          </p:cNvPr>
          <p:cNvSpPr>
            <a:spLocks noGrp="1"/>
          </p:cNvSpPr>
          <p:nvPr>
            <p:ph sz="quarter" idx="13" hasCustomPrompt="1"/>
          </p:nvPr>
        </p:nvSpPr>
        <p:spPr>
          <a:xfrm>
            <a:off x="594359" y="2281918"/>
            <a:ext cx="6787747" cy="3708517"/>
          </a:xfrm>
        </p:spPr>
        <p:txBody>
          <a:bodyPr lIns="0" tIns="228600" rIns="0" bIns="0">
            <a:normAutofit/>
          </a:bodyPr>
          <a:lstStyle>
            <a:lvl1pPr marL="283464" indent="-283464">
              <a:lnSpc>
                <a:spcPct val="80000"/>
              </a:lnSpc>
              <a:spcBef>
                <a:spcPts val="2200"/>
              </a:spcBef>
              <a:buFont typeface="Arial" panose="020B0604020202020204" pitchFamily="34" charset="0"/>
              <a:buChar char="•"/>
              <a:defRPr lang="en-US" sz="2400" b="1" i="0" kern="1200" dirty="0">
                <a:solidFill>
                  <a:schemeClr val="tx2">
                    <a:lumMod val="75000"/>
                  </a:schemeClr>
                </a:solidFill>
                <a:latin typeface="+mn-lt"/>
                <a:ea typeface="+mn-ea"/>
                <a:cs typeface="+mn-cs"/>
              </a:defRPr>
            </a:lvl1pPr>
            <a:lvl2pPr indent="-283464">
              <a:spcBef>
                <a:spcPts val="6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3" name="Slide Number Placeholder 42">
            <a:extLst>
              <a:ext uri="{FF2B5EF4-FFF2-40B4-BE49-F238E27FC236}">
                <a16:creationId xmlns:a16="http://schemas.microsoft.com/office/drawing/2014/main" id="{D80CCC8F-9CF1-9621-04EB-DFA68FEE42D2}"/>
              </a:ext>
            </a:extLst>
          </p:cNvPr>
          <p:cNvSpPr>
            <a:spLocks noGrp="1"/>
          </p:cNvSpPr>
          <p:nvPr>
            <p:ph type="sldNum" sz="quarter" idx="26"/>
          </p:nvPr>
        </p:nvSpPr>
        <p:spPr/>
        <p:txBody>
          <a:bodyPr/>
          <a:lstStyle/>
          <a:p>
            <a:fld id="{294A09A9-5501-47C1-A89A-A340965A2BE2}" type="slidenum">
              <a:rPr lang="en-US" smtClean="0"/>
              <a:pPr/>
              <a:t>‹#›</a:t>
            </a:fld>
            <a:endParaRPr lang="en-US" dirty="0">
              <a:latin typeface="+mn-lt"/>
            </a:endParaRPr>
          </a:p>
        </p:txBody>
      </p:sp>
      <p:sp>
        <p:nvSpPr>
          <p:cNvPr id="42" name="Date Placeholder 41">
            <a:extLst>
              <a:ext uri="{FF2B5EF4-FFF2-40B4-BE49-F238E27FC236}">
                <a16:creationId xmlns:a16="http://schemas.microsoft.com/office/drawing/2014/main" id="{29CE2856-DB8F-5603-C085-74C70560FAC8}"/>
              </a:ext>
            </a:extLst>
          </p:cNvPr>
          <p:cNvSpPr>
            <a:spLocks noGrp="1"/>
          </p:cNvSpPr>
          <p:nvPr>
            <p:ph type="dt" sz="half" idx="25"/>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979826C1-7A52-DA25-F422-EE62DED7D1B6}"/>
              </a:ext>
              <a:ext uri="{C183D7F6-B498-43B3-948B-1728B52AA6E4}">
                <adec:decorative xmlns:adec="http://schemas.microsoft.com/office/drawing/2017/decorative" val="1"/>
              </a:ext>
            </a:extLst>
          </p:cNvPr>
          <p:cNvCxnSpPr>
            <a:cxnSpLocks/>
          </p:cNvCxnSpPr>
          <p:nvPr userDrawn="1"/>
        </p:nvCxnSpPr>
        <p:spPr>
          <a:xfrm>
            <a:off x="594360" y="2148840"/>
            <a:ext cx="2130552" cy="0"/>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18089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3"/>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79D0555-EBDC-B53A-212D-A5921795FEC8}"/>
              </a:ext>
            </a:extLst>
          </p:cNvPr>
          <p:cNvSpPr>
            <a:spLocks noGrp="1"/>
          </p:cNvSpPr>
          <p:nvPr>
            <p:ph type="pic" sz="quarter" idx="13"/>
          </p:nvPr>
        </p:nvSpPr>
        <p:spPr>
          <a:xfrm>
            <a:off x="0" y="0"/>
            <a:ext cx="12192000" cy="6880543"/>
          </a:xfrm>
          <a:custGeom>
            <a:avLst/>
            <a:gdLst>
              <a:gd name="connsiteX0" fmla="*/ 6309360 w 12192000"/>
              <a:gd name="connsiteY0" fmla="*/ 3951843 h 6880543"/>
              <a:gd name="connsiteX1" fmla="*/ 6309360 w 12192000"/>
              <a:gd name="connsiteY1" fmla="*/ 4052427 h 6880543"/>
              <a:gd name="connsiteX2" fmla="*/ 8442960 w 12192000"/>
              <a:gd name="connsiteY2" fmla="*/ 4052427 h 6880543"/>
              <a:gd name="connsiteX3" fmla="*/ 8442960 w 12192000"/>
              <a:gd name="connsiteY3" fmla="*/ 3951843 h 6880543"/>
              <a:gd name="connsiteX4" fmla="*/ 0 w 12192000"/>
              <a:gd name="connsiteY4" fmla="*/ 0 h 6880543"/>
              <a:gd name="connsiteX5" fmla="*/ 12192000 w 12192000"/>
              <a:gd name="connsiteY5" fmla="*/ 0 h 6880543"/>
              <a:gd name="connsiteX6" fmla="*/ 12192000 w 12192000"/>
              <a:gd name="connsiteY6" fmla="*/ 6880543 h 6880543"/>
              <a:gd name="connsiteX7" fmla="*/ 0 w 12192000"/>
              <a:gd name="connsiteY7" fmla="*/ 6880543 h 688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p:spPr>
        <p:txBody>
          <a:bodyPr wrap="square" tIns="182880">
            <a:noAutofit/>
          </a:bodyPr>
          <a:lstStyle>
            <a:lvl1pPr marL="0" indent="0" algn="ctr">
              <a:buNone/>
              <a:defRPr sz="2000">
                <a:solidFill>
                  <a:schemeClr val="tx1"/>
                </a:solidFill>
              </a:defRPr>
            </a:lvl1pPr>
          </a:lstStyle>
          <a:p>
            <a:r>
              <a:rPr lang="en-US"/>
              <a:t>Click icon to add picture</a:t>
            </a:r>
            <a:endParaRPr lang="en-US" dirty="0"/>
          </a:p>
        </p:txBody>
      </p:sp>
      <p:sp>
        <p:nvSpPr>
          <p:cNvPr id="18" name="Title 1">
            <a:extLst>
              <a:ext uri="{FF2B5EF4-FFF2-40B4-BE49-F238E27FC236}">
                <a16:creationId xmlns:a16="http://schemas.microsoft.com/office/drawing/2014/main" id="{8D492973-78E3-D34E-835E-CF2D4517016D}"/>
              </a:ext>
            </a:extLst>
          </p:cNvPr>
          <p:cNvSpPr>
            <a:spLocks noGrp="1"/>
          </p:cNvSpPr>
          <p:nvPr>
            <p:ph type="title" hasCustomPrompt="1"/>
          </p:nvPr>
        </p:nvSpPr>
        <p:spPr>
          <a:xfrm>
            <a:off x="6309359" y="444933"/>
            <a:ext cx="5477479" cy="3291840"/>
          </a:xfrm>
          <a:prstGeom prst="rect">
            <a:avLst/>
          </a:prstGeom>
        </p:spPr>
        <p:txBody>
          <a:bodyPr lIns="0" tIns="0" rIns="0" bIns="0" anchor="b" anchorCtr="0">
            <a:noAutofit/>
          </a:bodyPr>
          <a:lstStyle>
            <a:lvl1pPr>
              <a:defRPr sz="6000" b="1" i="0" baseline="0">
                <a:solidFill>
                  <a:schemeClr val="tx1"/>
                </a:solidFill>
                <a:latin typeface="+mj-lt"/>
              </a:defRPr>
            </a:lvl1pPr>
          </a:lstStyle>
          <a:p>
            <a:r>
              <a:rPr lang="en-US" dirty="0"/>
              <a:t>Click to add title </a:t>
            </a:r>
          </a:p>
        </p:txBody>
      </p:sp>
      <p:sp>
        <p:nvSpPr>
          <p:cNvPr id="7" name="Rectangle 6">
            <a:extLst>
              <a:ext uri="{FF2B5EF4-FFF2-40B4-BE49-F238E27FC236}">
                <a16:creationId xmlns:a16="http://schemas.microsoft.com/office/drawing/2014/main" id="{D96BA398-1ED2-1FCA-63B9-8915A8C7A524}"/>
              </a:ext>
              <a:ext uri="{C183D7F6-B498-43B3-948B-1728B52AA6E4}">
                <adec:decorative xmlns:adec="http://schemas.microsoft.com/office/drawing/2017/decorative" val="1"/>
              </a:ext>
            </a:extLst>
          </p:cNvPr>
          <p:cNvSpPr/>
          <p:nvPr userDrawn="1"/>
        </p:nvSpPr>
        <p:spPr>
          <a:xfrm>
            <a:off x="6309360" y="3951843"/>
            <a:ext cx="2133600" cy="1005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29169562"/>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299835" y="43052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sp>
        <p:nvSpPr>
          <p:cNvPr id="6" name="Picture Placeholder 5">
            <a:extLst>
              <a:ext uri="{FF2B5EF4-FFF2-40B4-BE49-F238E27FC236}">
                <a16:creationId xmlns:a16="http://schemas.microsoft.com/office/drawing/2014/main" id="{A9973BC6-F6E5-0B3B-C8AB-0AC4020D4E8B}"/>
              </a:ext>
            </a:extLst>
          </p:cNvPr>
          <p:cNvSpPr>
            <a:spLocks noGrp="1"/>
          </p:cNvSpPr>
          <p:nvPr>
            <p:ph type="pic" sz="quarter" idx="12"/>
          </p:nvPr>
        </p:nvSpPr>
        <p:spPr>
          <a:xfrm>
            <a:off x="0" y="-11113"/>
            <a:ext cx="5791200" cy="6880226"/>
          </a:xfrm>
        </p:spPr>
        <p:txBody>
          <a:bodyPr>
            <a:normAutofit/>
          </a:bodyPr>
          <a:lstStyle>
            <a:lvl1pPr marL="0" indent="0" algn="ctr">
              <a:buNone/>
              <a:defRPr sz="2000"/>
            </a:lvl1pPr>
          </a:lstStyle>
          <a:p>
            <a:r>
              <a:rPr lang="en-US"/>
              <a:t>Click icon to add picture</a:t>
            </a:r>
            <a:endParaRPr lang="en-US" dirty="0"/>
          </a:p>
        </p:txBody>
      </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299835" y="456860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7" name="Straight Connector 6">
            <a:extLst>
              <a:ext uri="{FF2B5EF4-FFF2-40B4-BE49-F238E27FC236}">
                <a16:creationId xmlns:a16="http://schemas.microsoft.com/office/drawing/2014/main" id="{29169ED6-4B82-6844-119F-AC15CDF2D3E5}"/>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87914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mmary 2">
    <p:bg>
      <p:bgPr>
        <a:solidFill>
          <a:schemeClr val="tx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C57F1500-1A16-D1EF-4F0C-030852B291FC}"/>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grpSp>
        <p:nvGrpSpPr>
          <p:cNvPr id="10" name="Group 9">
            <a:extLst>
              <a:ext uri="{FF2B5EF4-FFF2-40B4-BE49-F238E27FC236}">
                <a16:creationId xmlns:a16="http://schemas.microsoft.com/office/drawing/2014/main" id="{2D07A0BE-3890-193E-9439-F294E61A71B9}"/>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11" name="Freeform 19">
              <a:extLst>
                <a:ext uri="{FF2B5EF4-FFF2-40B4-BE49-F238E27FC236}">
                  <a16:creationId xmlns:a16="http://schemas.microsoft.com/office/drawing/2014/main" id="{C05217ED-C258-E6CE-BA7F-28A6EA41BCD3}"/>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20">
              <a:extLst>
                <a:ext uri="{FF2B5EF4-FFF2-40B4-BE49-F238E27FC236}">
                  <a16:creationId xmlns:a16="http://schemas.microsoft.com/office/drawing/2014/main" id="{F3E11A1F-14DD-BA35-D7D7-4D4ADEAA348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21">
              <a:extLst>
                <a:ext uri="{FF2B5EF4-FFF2-40B4-BE49-F238E27FC236}">
                  <a16:creationId xmlns:a16="http://schemas.microsoft.com/office/drawing/2014/main" id="{F14541B0-973F-7E21-1019-D2FB83C8C0D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hasCustomPrompt="1"/>
          </p:nvPr>
        </p:nvSpPr>
        <p:spPr>
          <a:xfrm>
            <a:off x="594360" y="102875"/>
            <a:ext cx="10873740" cy="1680205"/>
          </a:xfrm>
          <a:prstGeom prst="rect">
            <a:avLst/>
          </a:prstGeom>
        </p:spPr>
        <p:txBody>
          <a:bodyPr lIns="0" tIns="0" rIns="0" bIns="0" anchor="b" anchorCtr="0">
            <a:noAutofit/>
          </a:bodyPr>
          <a:lstStyle>
            <a:lvl1pPr>
              <a:defRPr sz="4400" b="1" i="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6FE0DC0-B0D7-F4D6-8038-177AD7A8C211}"/>
              </a:ext>
            </a:extLst>
          </p:cNvPr>
          <p:cNvSpPr>
            <a:spLocks noGrp="1"/>
          </p:cNvSpPr>
          <p:nvPr>
            <p:ph sz="quarter" idx="13" hasCustomPrompt="1"/>
          </p:nvPr>
        </p:nvSpPr>
        <p:spPr>
          <a:xfrm>
            <a:off x="3657600" y="2282008"/>
            <a:ext cx="7810500" cy="3699328"/>
          </a:xfrm>
        </p:spPr>
        <p:txBody>
          <a:bodyPr lIns="0" tIns="228600" rIns="0" bIns="0">
            <a:normAutofit/>
          </a:bodyPr>
          <a:lstStyle>
            <a:lvl1pPr marL="283464" indent="-283464">
              <a:spcBef>
                <a:spcPts val="1800"/>
              </a:spcBef>
              <a:buFont typeface="Arial" panose="020B0604020202020204" pitchFamily="34" charset="0"/>
              <a:buChar char="•"/>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7">
            <a:extLst>
              <a:ext uri="{FF2B5EF4-FFF2-40B4-BE49-F238E27FC236}">
                <a16:creationId xmlns:a16="http://schemas.microsoft.com/office/drawing/2014/main" id="{7ED58739-4346-5104-B1AC-89ED035912AF}"/>
              </a:ext>
            </a:extLst>
          </p:cNvPr>
          <p:cNvSpPr>
            <a:spLocks noGrp="1"/>
          </p:cNvSpPr>
          <p:nvPr>
            <p:ph type="sldNum" sz="quarter" idx="22"/>
          </p:nvPr>
        </p:nvSpPr>
        <p:spPr/>
        <p:txBody>
          <a:bodyPr/>
          <a:lstStyle/>
          <a:p>
            <a:fld id="{294A09A9-5501-47C1-A89A-A340965A2BE2}" type="slidenum">
              <a:rPr lang="en-US" smtClean="0"/>
              <a:pPr/>
              <a:t>‹#›</a:t>
            </a:fld>
            <a:endParaRPr lang="en-US" dirty="0">
              <a:latin typeface="+mn-lt"/>
            </a:endParaRPr>
          </a:p>
        </p:txBody>
      </p:sp>
      <p:sp>
        <p:nvSpPr>
          <p:cNvPr id="5" name="Date Placeholder 4">
            <a:extLst>
              <a:ext uri="{FF2B5EF4-FFF2-40B4-BE49-F238E27FC236}">
                <a16:creationId xmlns:a16="http://schemas.microsoft.com/office/drawing/2014/main" id="{E9272B8D-F380-9F1A-C8E6-BDD2352B1763}"/>
              </a:ext>
            </a:extLst>
          </p:cNvPr>
          <p:cNvSpPr>
            <a:spLocks noGrp="1"/>
          </p:cNvSpPr>
          <p:nvPr>
            <p:ph type="dt" sz="half" idx="21"/>
          </p:nvPr>
        </p:nvSpPr>
        <p:spPr/>
        <p:txBody>
          <a:bodyPr/>
          <a:lstStyle/>
          <a:p>
            <a:endParaRPr lang="en-US" dirty="0">
              <a:latin typeface="+mn-lt"/>
            </a:endParaRPr>
          </a:p>
        </p:txBody>
      </p:sp>
    </p:spTree>
    <p:extLst>
      <p:ext uri="{BB962C8B-B14F-4D97-AF65-F5344CB8AC3E}">
        <p14:creationId xmlns:p14="http://schemas.microsoft.com/office/powerpoint/2010/main" val="14029641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309905"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spTree>
    <p:extLst>
      <p:ext uri="{BB962C8B-B14F-4D97-AF65-F5344CB8AC3E}">
        <p14:creationId xmlns:p14="http://schemas.microsoft.com/office/powerpoint/2010/main" val="2027108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2">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78129"/>
            <a:ext cx="9778365" cy="149459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14DA3C5-63E4-BAFB-1D68-47F71EEEE538}"/>
              </a:ext>
            </a:extLst>
          </p:cNvPr>
          <p:cNvSpPr>
            <a:spLocks noGrp="1"/>
          </p:cNvSpPr>
          <p:nvPr>
            <p:ph sz="quarter" idx="15" hasCustomPrompt="1"/>
          </p:nvPr>
        </p:nvSpPr>
        <p:spPr>
          <a:xfrm>
            <a:off x="594360"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9436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5">
            <a:extLst>
              <a:ext uri="{FF2B5EF4-FFF2-40B4-BE49-F238E27FC236}">
                <a16:creationId xmlns:a16="http://schemas.microsoft.com/office/drawing/2014/main" id="{BD11386D-847E-8CF5-E56A-42E80A65A089}"/>
              </a:ext>
            </a:extLst>
          </p:cNvPr>
          <p:cNvSpPr>
            <a:spLocks noGrp="1"/>
          </p:cNvSpPr>
          <p:nvPr>
            <p:ph sz="quarter" idx="16" hasCustomPrompt="1"/>
          </p:nvPr>
        </p:nvSpPr>
        <p:spPr>
          <a:xfrm>
            <a:off x="5881898"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1056953"/>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42E558A9-6DD6-E21D-3A8F-6707E1DD19F1}"/>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12" name="AutoShape 24">
              <a:extLst>
                <a:ext uri="{FF2B5EF4-FFF2-40B4-BE49-F238E27FC236}">
                  <a16:creationId xmlns:a16="http://schemas.microsoft.com/office/drawing/2014/main" id="{3FC994E4-318C-1E66-B4E4-8F8FD08E098F}"/>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7">
              <a:extLst>
                <a:ext uri="{FF2B5EF4-FFF2-40B4-BE49-F238E27FC236}">
                  <a16:creationId xmlns:a16="http://schemas.microsoft.com/office/drawing/2014/main" id="{17C00E6B-F625-6D6C-8364-9DD9F3C3628F}"/>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8">
              <a:extLst>
                <a:ext uri="{FF2B5EF4-FFF2-40B4-BE49-F238E27FC236}">
                  <a16:creationId xmlns:a16="http://schemas.microsoft.com/office/drawing/2014/main" id="{C6197B87-4F65-7981-9463-84830CD3687F}"/>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8" name="Freeform 9">
              <a:extLst>
                <a:ext uri="{FF2B5EF4-FFF2-40B4-BE49-F238E27FC236}">
                  <a16:creationId xmlns:a16="http://schemas.microsoft.com/office/drawing/2014/main" id="{86AA517C-7217-D864-B7E7-40984A2880D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9" name="Freeform 10">
              <a:extLst>
                <a:ext uri="{FF2B5EF4-FFF2-40B4-BE49-F238E27FC236}">
                  <a16:creationId xmlns:a16="http://schemas.microsoft.com/office/drawing/2014/main" id="{524013C6-491C-CAA2-5BD6-7C73596711C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6318885" y="3499667"/>
            <a:ext cx="4939666" cy="254281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6347460"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457201"/>
            <a:ext cx="5198269" cy="2305050"/>
          </a:xfrm>
        </p:spPr>
        <p:txBody>
          <a:bodyPr lIns="0" tIns="274320">
            <a:normAutofit/>
          </a:bodyPr>
          <a:lstStyle>
            <a:lvl1pPr marL="457200" indent="-457200">
              <a:spcBef>
                <a:spcPts val="1800"/>
              </a:spcBef>
              <a:buFont typeface="+mj-lt"/>
              <a:buAutoNum type="arabicPeriod"/>
              <a:defRPr sz="2000"/>
            </a:lvl1pPr>
            <a:lvl2pPr marL="914400" indent="-457200">
              <a:spcBef>
                <a:spcPts val="1800"/>
              </a:spcBef>
              <a:buFont typeface="+mj-lt"/>
              <a:buAutoNum type="alphaLcPeriod"/>
              <a:defRPr sz="2000"/>
            </a:lvl2pPr>
            <a:lvl3pPr marL="1371600" indent="-457200">
              <a:spcBef>
                <a:spcPts val="1800"/>
              </a:spcBef>
              <a:buFont typeface="+mj-lt"/>
              <a:buAutoNum type="arabicParenR"/>
              <a:defRPr sz="2000"/>
            </a:lvl3pPr>
            <a:lvl4pPr marL="1371600" indent="0">
              <a:spcBef>
                <a:spcPts val="1800"/>
              </a:spcBef>
              <a:buFont typeface="+mj-lt"/>
              <a:buNone/>
              <a:defRPr sz="2000"/>
            </a:lvl4pPr>
            <a:lvl5pPr marL="2286000" indent="-457200">
              <a:spcBef>
                <a:spcPts val="1800"/>
              </a:spcBef>
              <a:buFont typeface="+mj-lt"/>
              <a:buAutoNum type="arabicPeriod"/>
              <a:defRPr sz="2000"/>
            </a:lvl5pPr>
          </a:lstStyle>
          <a:p>
            <a:pPr lvl="0"/>
            <a:r>
              <a:rPr lang="en-US" dirty="0"/>
              <a:t>Click to add content</a:t>
            </a:r>
          </a:p>
          <a:p>
            <a:pPr lvl="1"/>
            <a:r>
              <a:rPr lang="en-US" dirty="0"/>
              <a:t>Second level</a:t>
            </a:r>
          </a:p>
          <a:p>
            <a:pPr lvl="2"/>
            <a:r>
              <a:rPr lang="en-US" dirty="0"/>
              <a:t>Third level</a:t>
            </a:r>
          </a:p>
          <a:p>
            <a:pPr lvl="3"/>
            <a:endParaRPr lang="en-US" dirty="0"/>
          </a:p>
        </p:txBody>
      </p:sp>
      <p:sp>
        <p:nvSpPr>
          <p:cNvPr id="2" name="Content Placeholder 5">
            <a:extLst>
              <a:ext uri="{FF2B5EF4-FFF2-40B4-BE49-F238E27FC236}">
                <a16:creationId xmlns:a16="http://schemas.microsoft.com/office/drawing/2014/main" id="{3AC171DA-232D-44C1-6B93-40BACB298F4B}"/>
              </a:ext>
            </a:extLst>
          </p:cNvPr>
          <p:cNvSpPr>
            <a:spLocks noGrp="1"/>
          </p:cNvSpPr>
          <p:nvPr>
            <p:ph sz="quarter" idx="15" hasCustomPrompt="1"/>
          </p:nvPr>
        </p:nvSpPr>
        <p:spPr>
          <a:xfrm>
            <a:off x="594360" y="2810595"/>
            <a:ext cx="5198269" cy="3319513"/>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554606805"/>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Content and Picture">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75310" y="278129"/>
            <a:ext cx="5063490" cy="235402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3" name="Content Placeholder 5">
            <a:extLst>
              <a:ext uri="{FF2B5EF4-FFF2-40B4-BE49-F238E27FC236}">
                <a16:creationId xmlns:a16="http://schemas.microsoft.com/office/drawing/2014/main" id="{1EF4505D-6803-3813-7738-049963427819}"/>
              </a:ext>
            </a:extLst>
          </p:cNvPr>
          <p:cNvSpPr>
            <a:spLocks noGrp="1"/>
          </p:cNvSpPr>
          <p:nvPr>
            <p:ph sz="quarter" idx="16" hasCustomPrompt="1"/>
          </p:nvPr>
        </p:nvSpPr>
        <p:spPr>
          <a:xfrm>
            <a:off x="594360" y="3279579"/>
            <a:ext cx="5044440" cy="2994415"/>
          </a:xfrm>
        </p:spPr>
        <p:txBody>
          <a:bodyPr lIns="0" tIns="228600" rIns="0" bIns="0">
            <a:normAutofit/>
          </a:bodyPr>
          <a:lstStyle>
            <a:lvl1pPr marL="0" indent="0">
              <a:spcBef>
                <a:spcPts val="1800"/>
              </a:spcBef>
              <a:buFont typeface="Arial" panose="020B0604020202020204" pitchFamily="34" charset="0"/>
              <a:buNone/>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997459"/>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2" name="Picture Placeholder 11">
            <a:extLst>
              <a:ext uri="{FF2B5EF4-FFF2-40B4-BE49-F238E27FC236}">
                <a16:creationId xmlns:a16="http://schemas.microsoft.com/office/drawing/2014/main" id="{4658637A-5D36-6127-19BC-C203E23FA49F}"/>
              </a:ext>
            </a:extLst>
          </p:cNvPr>
          <p:cNvSpPr>
            <a:spLocks noGrp="1"/>
          </p:cNvSpPr>
          <p:nvPr>
            <p:ph type="pic" sz="quarter" idx="15"/>
          </p:nvPr>
        </p:nvSpPr>
        <p:spPr>
          <a:xfrm>
            <a:off x="6096000" y="0"/>
            <a:ext cx="6118225" cy="6858000"/>
          </a:xfrm>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142931976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tx1"/>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CF555767-B3D8-BD57-1D42-7F6E1E66892B}"/>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9" name="Freeform 13">
              <a:extLst>
                <a:ext uri="{FF2B5EF4-FFF2-40B4-BE49-F238E27FC236}">
                  <a16:creationId xmlns:a16="http://schemas.microsoft.com/office/drawing/2014/main" id="{BC972B6D-098C-52F6-E990-52623B368FB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5" name="Freeform 14">
              <a:extLst>
                <a:ext uri="{FF2B5EF4-FFF2-40B4-BE49-F238E27FC236}">
                  <a16:creationId xmlns:a16="http://schemas.microsoft.com/office/drawing/2014/main" id="{3F0D3EE3-9A8C-531D-1EEE-1AFAB9F3BCA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7" name="Freeform 15">
              <a:extLst>
                <a:ext uri="{FF2B5EF4-FFF2-40B4-BE49-F238E27FC236}">
                  <a16:creationId xmlns:a16="http://schemas.microsoft.com/office/drawing/2014/main" id="{A2BE192C-1768-890B-EC1B-5ED6E1F8259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3661409" y="4661717"/>
            <a:ext cx="7936230" cy="138076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3670935"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584005"/>
            <a:ext cx="2825115" cy="3999060"/>
          </a:xfrm>
        </p:spPr>
        <p:txBody>
          <a:bodyPr lIns="0" tIns="274320">
            <a:normAutofit/>
          </a:bodyPr>
          <a:lstStyle>
            <a:lvl1pPr marL="0" indent="0">
              <a:spcBef>
                <a:spcPts val="1800"/>
              </a:spcBef>
              <a:buFont typeface="Arial" panose="020B0604020202020204" pitchFamily="34" charset="0"/>
              <a:buNone/>
              <a:defRPr sz="2000"/>
            </a:lvl1pPr>
            <a:lvl2pPr marL="457200" indent="0">
              <a:spcBef>
                <a:spcPts val="1800"/>
              </a:spcBef>
              <a:buNone/>
              <a:defRPr sz="2000"/>
            </a:lvl2pPr>
            <a:lvl3pPr marL="914400" indent="0">
              <a:spcBef>
                <a:spcPts val="1800"/>
              </a:spcBef>
              <a:buNone/>
              <a:defRPr sz="2000"/>
            </a:lvl3pPr>
            <a:lvl4pPr marL="1371600" indent="0">
              <a:spcBef>
                <a:spcPts val="1800"/>
              </a:spcBef>
              <a:buNone/>
              <a:defRPr sz="2000"/>
            </a:lvl4pPr>
            <a:lvl5pPr marL="1828800" indent="0">
              <a:spcBef>
                <a:spcPts val="1800"/>
              </a:spcBef>
              <a:buNone/>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3670934" y="584005"/>
            <a:ext cx="7926705" cy="399906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2244329111"/>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198408"/>
            <a:ext cx="10972800" cy="1574317"/>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595523" y="2676525"/>
            <a:ext cx="5746750" cy="359747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7620000" y="2676525"/>
            <a:ext cx="3947160" cy="3597470"/>
          </a:xfrm>
        </p:spPr>
        <p:txBody>
          <a:bodyPr lIns="0">
            <a:normAutofit/>
          </a:bodyPr>
          <a:lstStyle>
            <a:lvl1pPr marL="342900" indent="-342900">
              <a:spcBef>
                <a:spcPts val="1800"/>
              </a:spcBef>
              <a:buFont typeface="Arial" panose="020B0604020202020204" pitchFamily="34" charset="0"/>
              <a:buChar char="•"/>
              <a:defRPr sz="2000"/>
            </a:lvl1pPr>
            <a:lvl2pPr>
              <a:spcBef>
                <a:spcPts val="18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649744719"/>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2">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02400"/>
            <a:ext cx="10972800" cy="1570325"/>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9" name="Table Placeholder 2">
            <a:extLst>
              <a:ext uri="{FF2B5EF4-FFF2-40B4-BE49-F238E27FC236}">
                <a16:creationId xmlns:a16="http://schemas.microsoft.com/office/drawing/2014/main" id="{1506B022-475A-6647-98FF-D5C319A0C7C4}"/>
              </a:ext>
            </a:extLst>
          </p:cNvPr>
          <p:cNvSpPr>
            <a:spLocks noGrp="1"/>
          </p:cNvSpPr>
          <p:nvPr>
            <p:ph type="tbl" sz="quarter" idx="10"/>
          </p:nvPr>
        </p:nvSpPr>
        <p:spPr>
          <a:xfrm>
            <a:off x="594360" y="2628629"/>
            <a:ext cx="10972800" cy="3636740"/>
          </a:xfrm>
        </p:spPr>
        <p:txBody>
          <a:bodyPr>
            <a:noAutofit/>
          </a:bodyPr>
          <a:lstStyle>
            <a:lvl1pPr>
              <a:defRPr/>
            </a:lvl1pPr>
          </a:lstStyle>
          <a:p>
            <a:r>
              <a:rPr lang="en-US"/>
              <a:t>Click icon to add table</a:t>
            </a:r>
            <a:endParaRPr lang="en-US" dirty="0"/>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410957"/>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594360"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flipH="1" flipV="1">
            <a:off x="6092752" y="0"/>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594360"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4" name="Straight Connector 3">
            <a:extLst>
              <a:ext uri="{FF2B5EF4-FFF2-40B4-BE49-F238E27FC236}">
                <a16:creationId xmlns:a16="http://schemas.microsoft.com/office/drawing/2014/main" id="{58B149C6-5AAC-B8E5-5411-EA38821F6754}"/>
              </a:ext>
              <a:ext uri="{C183D7F6-B498-43B3-948B-1728B52AA6E4}">
                <adec:decorative xmlns:adec="http://schemas.microsoft.com/office/drawing/2017/decorative" val="1"/>
              </a:ext>
            </a:extLst>
          </p:cNvPr>
          <p:cNvCxnSpPr>
            <a:cxnSpLocks/>
          </p:cNvCxnSpPr>
          <p:nvPr userDrawn="1"/>
        </p:nvCxnSpPr>
        <p:spPr>
          <a:xfrm>
            <a:off x="594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69273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EED84C6-50E6-6C43-8031-AFF6268E0C06}"/>
              </a:ext>
            </a:extLst>
          </p:cNvPr>
          <p:cNvSpPr>
            <a:spLocks noGrp="1"/>
          </p:cNvSpPr>
          <p:nvPr>
            <p:ph type="body" idx="1"/>
          </p:nvPr>
        </p:nvSpPr>
        <p:spPr>
          <a:xfrm>
            <a:off x="594360" y="1825625"/>
            <a:ext cx="1038225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itle Placeholder 11">
            <a:extLst>
              <a:ext uri="{FF2B5EF4-FFF2-40B4-BE49-F238E27FC236}">
                <a16:creationId xmlns:a16="http://schemas.microsoft.com/office/drawing/2014/main" id="{D41FC0AE-253D-D242-9C88-017078F8A23A}"/>
              </a:ext>
            </a:extLst>
          </p:cNvPr>
          <p:cNvSpPr>
            <a:spLocks noGrp="1"/>
          </p:cNvSpPr>
          <p:nvPr>
            <p:ph type="title"/>
          </p:nvPr>
        </p:nvSpPr>
        <p:spPr>
          <a:xfrm>
            <a:off x="594360" y="365125"/>
            <a:ext cx="104013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0" name="Date Placeholder 3">
            <a:extLst>
              <a:ext uri="{FF2B5EF4-FFF2-40B4-BE49-F238E27FC236}">
                <a16:creationId xmlns:a16="http://schemas.microsoft.com/office/drawing/2014/main" id="{EF47083A-6D76-4B4D-87CA-E08E212F781D}"/>
              </a:ext>
            </a:extLst>
          </p:cNvPr>
          <p:cNvSpPr>
            <a:spLocks noGrp="1"/>
          </p:cNvSpPr>
          <p:nvPr>
            <p:ph type="dt" sz="half" idx="2"/>
          </p:nvPr>
        </p:nvSpPr>
        <p:spPr>
          <a:xfrm>
            <a:off x="1133648"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endParaRPr lang="en-US" dirty="0">
              <a:latin typeface="+mn-lt"/>
            </a:endParaRPr>
          </a:p>
        </p:txBody>
      </p:sp>
      <p:sp>
        <p:nvSpPr>
          <p:cNvPr id="32" name="Slide Number Placeholder 5">
            <a:extLst>
              <a:ext uri="{FF2B5EF4-FFF2-40B4-BE49-F238E27FC236}">
                <a16:creationId xmlns:a16="http://schemas.microsoft.com/office/drawing/2014/main" id="{C8ADA0DF-3751-9A48-8A21-59F01C782D7C}"/>
              </a:ext>
            </a:extLst>
          </p:cNvPr>
          <p:cNvSpPr>
            <a:spLocks noGrp="1"/>
          </p:cNvSpPr>
          <p:nvPr>
            <p:ph type="sldNum" sz="quarter" idx="4"/>
          </p:nvPr>
        </p:nvSpPr>
        <p:spPr>
          <a:xfrm>
            <a:off x="594360" y="6332220"/>
            <a:ext cx="523240" cy="247651"/>
          </a:xfrm>
          <a:prstGeom prst="rect">
            <a:avLst/>
          </a:prstGeom>
        </p:spPr>
        <p:txBody>
          <a:bodyPr vert="horz" lIns="0" tIns="0" rIns="0" bIns="0" rtlCol="0" anchor="t" anchorCtr="0"/>
          <a:lstStyle>
            <a:lvl1pPr algn="l">
              <a:defRPr sz="1100" b="1" i="0">
                <a:solidFill>
                  <a:schemeClr val="bg1"/>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711" r:id="rId1"/>
    <p:sldLayoutId id="2147483698" r:id="rId2"/>
    <p:sldLayoutId id="2147483710" r:id="rId3"/>
    <p:sldLayoutId id="2147483700" r:id="rId4"/>
    <p:sldLayoutId id="2147483701" r:id="rId5"/>
    <p:sldLayoutId id="2147483659" r:id="rId6"/>
    <p:sldLayoutId id="2147483709" r:id="rId7"/>
    <p:sldLayoutId id="2147483708" r:id="rId8"/>
    <p:sldLayoutId id="2147483707" r:id="rId9"/>
    <p:sldLayoutId id="2147483706" r:id="rId10"/>
    <p:sldLayoutId id="2147483705" r:id="rId11"/>
    <p:sldLayoutId id="2147483704" r:id="rId12"/>
    <p:sldLayoutId id="2147483703" r:id="rId13"/>
  </p:sldLayoutIdLst>
  <p:hf sldNum="0" hdr="0" ftr="0" dt="0"/>
  <p:txStyles>
    <p:titleStyle>
      <a:lvl1pPr algn="l" defTabSz="914400" rtl="0" eaLnBrk="1" latinLnBrk="0" hangingPunct="1">
        <a:lnSpc>
          <a:spcPct val="8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83464"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83464"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1D9D6-2977-ABCD-FDF8-51AFA5064E54}"/>
              </a:ext>
            </a:extLst>
          </p:cNvPr>
          <p:cNvSpPr>
            <a:spLocks noGrp="1"/>
          </p:cNvSpPr>
          <p:nvPr>
            <p:ph type="ctrTitle"/>
          </p:nvPr>
        </p:nvSpPr>
        <p:spPr>
          <a:xfrm>
            <a:off x="6309904" y="411479"/>
            <a:ext cx="5486400" cy="3291840"/>
          </a:xfrm>
        </p:spPr>
        <p:txBody>
          <a:bodyPr/>
          <a:lstStyle/>
          <a:p>
            <a:r>
              <a:rPr lang="en-US" dirty="0"/>
              <a:t>Learning Management System Proposal</a:t>
            </a:r>
          </a:p>
        </p:txBody>
      </p:sp>
    </p:spTree>
    <p:extLst>
      <p:ext uri="{BB962C8B-B14F-4D97-AF65-F5344CB8AC3E}">
        <p14:creationId xmlns:p14="http://schemas.microsoft.com/office/powerpoint/2010/main" val="3390304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0BF65-C84B-45C3-72CA-AFDA68851174}"/>
              </a:ext>
            </a:extLst>
          </p:cNvPr>
          <p:cNvSpPr>
            <a:spLocks noGrp="1"/>
          </p:cNvSpPr>
          <p:nvPr>
            <p:ph type="title"/>
          </p:nvPr>
        </p:nvSpPr>
        <p:spPr>
          <a:xfrm>
            <a:off x="639270" y="189572"/>
            <a:ext cx="6787747" cy="1593507"/>
          </a:xfrm>
        </p:spPr>
        <p:txBody>
          <a:bodyPr/>
          <a:lstStyle/>
          <a:p>
            <a:r>
              <a:rPr lang="en-US" dirty="0"/>
              <a:t>What is an LMS?</a:t>
            </a:r>
          </a:p>
        </p:txBody>
      </p:sp>
      <p:sp>
        <p:nvSpPr>
          <p:cNvPr id="3" name="Text Placeholder 2">
            <a:extLst>
              <a:ext uri="{FF2B5EF4-FFF2-40B4-BE49-F238E27FC236}">
                <a16:creationId xmlns:a16="http://schemas.microsoft.com/office/drawing/2014/main" id="{3B8EBC2C-6DD7-5003-38EB-40753046FE8C}"/>
              </a:ext>
            </a:extLst>
          </p:cNvPr>
          <p:cNvSpPr>
            <a:spLocks noGrp="1"/>
          </p:cNvSpPr>
          <p:nvPr>
            <p:ph sz="quarter" idx="13"/>
          </p:nvPr>
        </p:nvSpPr>
        <p:spPr>
          <a:xfrm>
            <a:off x="639269" y="3322099"/>
            <a:ext cx="10913461" cy="3244072"/>
          </a:xfrm>
        </p:spPr>
        <p:txBody>
          <a:bodyPr tIns="457200">
            <a:normAutofit/>
          </a:bodyPr>
          <a:lstStyle/>
          <a:p>
            <a:pPr marL="0" indent="0">
              <a:buNone/>
            </a:pPr>
            <a:r>
              <a:rPr lang="en-US" sz="3200" dirty="0"/>
              <a:t>A Learning Management System (LMS) is a software platform used to create, manage, deliver, and track training content. It serves as a centralized hub where administrators, instructors, and learners can interact with course materials, assessments, and communication tools.</a:t>
            </a:r>
          </a:p>
        </p:txBody>
      </p:sp>
    </p:spTree>
    <p:extLst>
      <p:ext uri="{BB962C8B-B14F-4D97-AF65-F5344CB8AC3E}">
        <p14:creationId xmlns:p14="http://schemas.microsoft.com/office/powerpoint/2010/main" val="33466857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5D3755-C3E2-975E-DE68-CDECC4B526EC}"/>
              </a:ext>
            </a:extLst>
          </p:cNvPr>
          <p:cNvSpPr>
            <a:spLocks noGrp="1"/>
          </p:cNvSpPr>
          <p:nvPr>
            <p:ph type="title"/>
          </p:nvPr>
        </p:nvSpPr>
        <p:spPr>
          <a:xfrm>
            <a:off x="594360" y="102876"/>
            <a:ext cx="10873740" cy="711578"/>
          </a:xfrm>
        </p:spPr>
        <p:txBody>
          <a:bodyPr/>
          <a:lstStyle/>
          <a:p>
            <a:r>
              <a:rPr lang="en-US" sz="3600" dirty="0"/>
              <a:t>Internal Benefits of an LMS</a:t>
            </a:r>
          </a:p>
        </p:txBody>
      </p:sp>
      <p:grpSp>
        <p:nvGrpSpPr>
          <p:cNvPr id="19" name="Group 18">
            <a:extLst>
              <a:ext uri="{FF2B5EF4-FFF2-40B4-BE49-F238E27FC236}">
                <a16:creationId xmlns:a16="http://schemas.microsoft.com/office/drawing/2014/main" id="{C78CEA4F-D72A-C069-6A51-328B103CA0CA}"/>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7E473402-19FD-A5B0-5CB6-E5F3926D3828}"/>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879D1CAD-2EA2-9376-7B64-0C3AC590F651}"/>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B16F8906-918C-BE0B-A4AB-6A1D48150AC7}"/>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4" name="Rectangle 3">
            <a:extLst>
              <a:ext uri="{FF2B5EF4-FFF2-40B4-BE49-F238E27FC236}">
                <a16:creationId xmlns:a16="http://schemas.microsoft.com/office/drawing/2014/main" id="{31926D93-5D43-F3E3-B0C4-C58AB6779D70}"/>
              </a:ext>
            </a:extLst>
          </p:cNvPr>
          <p:cNvSpPr/>
          <p:nvPr/>
        </p:nvSpPr>
        <p:spPr>
          <a:xfrm>
            <a:off x="548802" y="1832261"/>
            <a:ext cx="2291675" cy="54952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6">
            <a:extLst>
              <a:ext uri="{FF2B5EF4-FFF2-40B4-BE49-F238E27FC236}">
                <a16:creationId xmlns:a16="http://schemas.microsoft.com/office/drawing/2014/main" id="{F70BD87D-F7DA-961B-4024-A354DC87D168}"/>
              </a:ext>
            </a:extLst>
          </p:cNvPr>
          <p:cNvSpPr>
            <a:spLocks noGrp="1"/>
          </p:cNvSpPr>
          <p:nvPr>
            <p:ph sz="quarter" idx="13"/>
          </p:nvPr>
        </p:nvSpPr>
        <p:spPr>
          <a:xfrm>
            <a:off x="1950689" y="814454"/>
            <a:ext cx="9692509" cy="5806156"/>
          </a:xfrm>
        </p:spPr>
        <p:txBody>
          <a:bodyPr>
            <a:noAutofit/>
          </a:bodyPr>
          <a:lstStyle/>
          <a:p>
            <a:pPr marL="0" indent="0">
              <a:spcBef>
                <a:spcPts val="800"/>
              </a:spcBef>
              <a:buNone/>
            </a:pPr>
            <a:r>
              <a:rPr lang="en-US" sz="1800" b="1" dirty="0"/>
              <a:t>Reduce administrative burden</a:t>
            </a:r>
          </a:p>
          <a:p>
            <a:pPr marL="631825" indent="-282575">
              <a:spcBef>
                <a:spcPts val="800"/>
              </a:spcBef>
              <a:buFont typeface="Courier New" panose="02070309020205020404" pitchFamily="49" charset="0"/>
              <a:buChar char="o"/>
            </a:pPr>
            <a:r>
              <a:rPr lang="en-US" sz="1600" dirty="0"/>
              <a:t>Automates enrollment, reminders, certifications, and tracking.</a:t>
            </a:r>
          </a:p>
          <a:p>
            <a:pPr marL="631825" indent="-282575">
              <a:spcBef>
                <a:spcPts val="800"/>
              </a:spcBef>
              <a:buFont typeface="Courier New" panose="02070309020205020404" pitchFamily="49" charset="0"/>
              <a:buChar char="o"/>
            </a:pPr>
            <a:r>
              <a:rPr lang="en-US" sz="1600" dirty="0"/>
              <a:t>Reduces the need for manual processes and paperwork.</a:t>
            </a:r>
          </a:p>
          <a:p>
            <a:pPr marL="631825" indent="-282575">
              <a:spcBef>
                <a:spcPts val="800"/>
              </a:spcBef>
              <a:buFont typeface="Courier New" panose="02070309020205020404" pitchFamily="49" charset="0"/>
              <a:buChar char="o"/>
            </a:pPr>
            <a:r>
              <a:rPr lang="en-US" sz="1600" dirty="0"/>
              <a:t>Tracks learner progress, completion rates, quiz scores, and engagement.</a:t>
            </a:r>
          </a:p>
          <a:p>
            <a:pPr marL="0" indent="0">
              <a:spcBef>
                <a:spcPts val="800"/>
              </a:spcBef>
              <a:buNone/>
            </a:pPr>
            <a:r>
              <a:rPr lang="en-US" sz="1800" b="1" dirty="0"/>
              <a:t>Improves training effectiveness</a:t>
            </a:r>
          </a:p>
          <a:p>
            <a:pPr marL="631825" indent="-292100">
              <a:spcBef>
                <a:spcPts val="800"/>
              </a:spcBef>
              <a:buFont typeface="Courier New" panose="02070309020205020404" pitchFamily="49" charset="0"/>
              <a:buChar char="o"/>
            </a:pPr>
            <a:r>
              <a:rPr lang="en-US" sz="1600" dirty="0"/>
              <a:t>Uses data to improve course and overall training effectiveness.</a:t>
            </a:r>
          </a:p>
          <a:p>
            <a:pPr marL="631825" indent="-292100">
              <a:spcBef>
                <a:spcPts val="800"/>
              </a:spcBef>
              <a:buFont typeface="Courier New" panose="02070309020205020404" pitchFamily="49" charset="0"/>
              <a:buChar char="o"/>
            </a:pPr>
            <a:r>
              <a:rPr lang="en-US" sz="1600" dirty="0"/>
              <a:t>Limits access, add pre-requisites, and designate required learning path.</a:t>
            </a:r>
          </a:p>
          <a:p>
            <a:pPr marL="631825" indent="-292100">
              <a:spcBef>
                <a:spcPts val="800"/>
              </a:spcBef>
              <a:buFont typeface="Courier New" panose="02070309020205020404" pitchFamily="49" charset="0"/>
              <a:buChar char="o"/>
            </a:pPr>
            <a:r>
              <a:rPr lang="en-US" sz="1600" dirty="0"/>
              <a:t>Improves training experience to increase user confidence and skills, potentially reducing support tickets.</a:t>
            </a:r>
          </a:p>
          <a:p>
            <a:pPr marL="631825" indent="-292100">
              <a:spcBef>
                <a:spcPts val="800"/>
              </a:spcBef>
              <a:buFont typeface="Courier New" panose="02070309020205020404" pitchFamily="49" charset="0"/>
              <a:buChar char="o"/>
            </a:pPr>
            <a:r>
              <a:rPr lang="en-US" sz="1600" dirty="0"/>
              <a:t>Better user knowledge improves satisfaction and reduces customer turnover.</a:t>
            </a:r>
          </a:p>
          <a:p>
            <a:pPr marL="0" indent="0">
              <a:spcBef>
                <a:spcPts val="800"/>
              </a:spcBef>
              <a:buNone/>
            </a:pPr>
            <a:r>
              <a:rPr lang="en-US" sz="1800" b="1" dirty="0"/>
              <a:t>Reduces labor requirements</a:t>
            </a:r>
          </a:p>
          <a:p>
            <a:pPr marL="339725" indent="292100">
              <a:spcBef>
                <a:spcPts val="800"/>
              </a:spcBef>
              <a:buFont typeface="Courier New" panose="02070309020205020404" pitchFamily="49" charset="0"/>
              <a:buChar char="o"/>
            </a:pPr>
            <a:r>
              <a:rPr lang="en-US" sz="1600" dirty="0"/>
              <a:t>Fewer one-on-one initial trainings, easily scalable, eliminates the need for weekly webinars.</a:t>
            </a:r>
          </a:p>
          <a:p>
            <a:pPr marL="339725" indent="292100">
              <a:spcBef>
                <a:spcPts val="800"/>
              </a:spcBef>
              <a:buFont typeface="Courier New" panose="02070309020205020404" pitchFamily="49" charset="0"/>
              <a:buChar char="o"/>
            </a:pPr>
            <a:r>
              <a:rPr lang="en-US" sz="1600" dirty="0"/>
              <a:t>Easier training process for customer’s employee turnover (reduce free one-on-ones for new employees).</a:t>
            </a:r>
          </a:p>
          <a:p>
            <a:pPr marL="339725" indent="292100">
              <a:spcBef>
                <a:spcPts val="800"/>
              </a:spcBef>
              <a:buFont typeface="Courier New" panose="02070309020205020404" pitchFamily="49" charset="0"/>
              <a:buChar char="o"/>
            </a:pPr>
            <a:r>
              <a:rPr lang="en-US" sz="1600" dirty="0"/>
              <a:t>Micro learning allows easier, quicker updates with AI assistance for creating content.</a:t>
            </a:r>
          </a:p>
          <a:p>
            <a:pPr marL="0" indent="0">
              <a:spcBef>
                <a:spcPts val="800"/>
              </a:spcBef>
              <a:buNone/>
            </a:pPr>
            <a:r>
              <a:rPr lang="en-US" sz="1800" b="1" dirty="0"/>
              <a:t>Enhances other internal processes</a:t>
            </a:r>
          </a:p>
          <a:p>
            <a:pPr marL="631825" indent="-282575">
              <a:spcBef>
                <a:spcPts val="800"/>
              </a:spcBef>
              <a:buFont typeface="Courier New" panose="02070309020205020404" pitchFamily="49" charset="0"/>
              <a:buChar char="o"/>
            </a:pPr>
            <a:r>
              <a:rPr lang="en-US" sz="1600" dirty="0"/>
              <a:t>Track implementation progress and timing.</a:t>
            </a:r>
          </a:p>
          <a:p>
            <a:pPr marL="631825" indent="-282575">
              <a:spcBef>
                <a:spcPts val="800"/>
              </a:spcBef>
              <a:buFont typeface="Courier New" panose="02070309020205020404" pitchFamily="49" charset="0"/>
              <a:buChar char="o"/>
            </a:pPr>
            <a:r>
              <a:rPr lang="en-US" sz="1600" dirty="0"/>
              <a:t>Use for employee onboarding, including video assessments.</a:t>
            </a:r>
          </a:p>
          <a:p>
            <a:pPr marL="631825" indent="-282575">
              <a:spcBef>
                <a:spcPts val="800"/>
              </a:spcBef>
              <a:buFont typeface="Courier New" panose="02070309020205020404" pitchFamily="49" charset="0"/>
              <a:buChar char="o"/>
            </a:pPr>
            <a:r>
              <a:rPr lang="en-US" sz="1600" dirty="0"/>
              <a:t>Opportunities for commercialization of some content.</a:t>
            </a:r>
          </a:p>
        </p:txBody>
      </p:sp>
    </p:spTree>
    <p:extLst>
      <p:ext uri="{BB962C8B-B14F-4D97-AF65-F5344CB8AC3E}">
        <p14:creationId xmlns:p14="http://schemas.microsoft.com/office/powerpoint/2010/main" val="32003120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39454-082A-5A2B-71B5-35CAEA8DA10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D167CFC-2323-7C6F-5D1B-70657BA8B589}"/>
              </a:ext>
            </a:extLst>
          </p:cNvPr>
          <p:cNvSpPr>
            <a:spLocks noGrp="1"/>
          </p:cNvSpPr>
          <p:nvPr>
            <p:ph type="title"/>
          </p:nvPr>
        </p:nvSpPr>
        <p:spPr>
          <a:xfrm>
            <a:off x="548802" y="224118"/>
            <a:ext cx="10873740" cy="668496"/>
          </a:xfrm>
        </p:spPr>
        <p:txBody>
          <a:bodyPr/>
          <a:lstStyle/>
          <a:p>
            <a:r>
              <a:rPr lang="en-US" sz="3600" dirty="0"/>
              <a:t>Customer Benefits of an LMS</a:t>
            </a:r>
          </a:p>
        </p:txBody>
      </p:sp>
      <p:grpSp>
        <p:nvGrpSpPr>
          <p:cNvPr id="19" name="Group 18">
            <a:extLst>
              <a:ext uri="{FF2B5EF4-FFF2-40B4-BE49-F238E27FC236}">
                <a16:creationId xmlns:a16="http://schemas.microsoft.com/office/drawing/2014/main" id="{01F076FE-2F4A-39BE-A6BC-67610C7AE17D}"/>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B42B3BE8-09E0-B5C5-9886-88A8B1C259C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4C7BC8F9-4F92-43DA-614E-AF490288EBEB}"/>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3E14927B-786B-F5C5-E2AC-D2B14747062B}"/>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4" name="Rectangle 3">
            <a:extLst>
              <a:ext uri="{FF2B5EF4-FFF2-40B4-BE49-F238E27FC236}">
                <a16:creationId xmlns:a16="http://schemas.microsoft.com/office/drawing/2014/main" id="{7B12FB7F-70A5-24D6-40D5-EE316AB335E6}"/>
              </a:ext>
            </a:extLst>
          </p:cNvPr>
          <p:cNvSpPr/>
          <p:nvPr/>
        </p:nvSpPr>
        <p:spPr>
          <a:xfrm>
            <a:off x="548802" y="1832261"/>
            <a:ext cx="2291675" cy="54952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6">
            <a:extLst>
              <a:ext uri="{FF2B5EF4-FFF2-40B4-BE49-F238E27FC236}">
                <a16:creationId xmlns:a16="http://schemas.microsoft.com/office/drawing/2014/main" id="{82CCD3FB-9EFA-A080-9E62-C4220D90C9B0}"/>
              </a:ext>
            </a:extLst>
          </p:cNvPr>
          <p:cNvSpPr>
            <a:spLocks noGrp="1"/>
          </p:cNvSpPr>
          <p:nvPr>
            <p:ph sz="quarter" idx="13"/>
          </p:nvPr>
        </p:nvSpPr>
        <p:spPr>
          <a:xfrm>
            <a:off x="1965039" y="966282"/>
            <a:ext cx="10066101" cy="4779177"/>
          </a:xfrm>
        </p:spPr>
        <p:txBody>
          <a:bodyPr>
            <a:noAutofit/>
          </a:bodyPr>
          <a:lstStyle/>
          <a:p>
            <a:pPr>
              <a:spcBef>
                <a:spcPts val="800"/>
              </a:spcBef>
              <a:buNone/>
            </a:pPr>
            <a:r>
              <a:rPr lang="en-US" sz="1800" b="1" dirty="0"/>
              <a:t>Flexible, Self-Paced Learning</a:t>
            </a:r>
          </a:p>
          <a:p>
            <a:pPr marL="515938" indent="-282575">
              <a:spcBef>
                <a:spcPts val="800"/>
              </a:spcBef>
              <a:buFont typeface="Courier New" panose="02070309020205020404" pitchFamily="49" charset="0"/>
              <a:buChar char="o"/>
            </a:pPr>
            <a:r>
              <a:rPr lang="en-US" sz="1600" dirty="0"/>
              <a:t>Access content anytime, anywhere, and go at their own pace.</a:t>
            </a:r>
          </a:p>
          <a:p>
            <a:pPr marL="515938" indent="-282575">
              <a:spcBef>
                <a:spcPts val="800"/>
              </a:spcBef>
              <a:buFont typeface="Courier New" panose="02070309020205020404" pitchFamily="49" charset="0"/>
              <a:buChar char="o"/>
            </a:pPr>
            <a:r>
              <a:rPr lang="en-US" sz="1600" dirty="0"/>
              <a:t>Learners can revisit materials or pause/resume as needed.</a:t>
            </a:r>
          </a:p>
          <a:p>
            <a:pPr marL="515938" indent="-282575">
              <a:spcBef>
                <a:spcPts val="800"/>
              </a:spcBef>
              <a:buFont typeface="Courier New" panose="02070309020205020404" pitchFamily="49" charset="0"/>
              <a:buChar char="o"/>
            </a:pPr>
            <a:r>
              <a:rPr lang="en-US" sz="1600" dirty="0"/>
              <a:t>Opportunity to practice in live sandbox.</a:t>
            </a:r>
          </a:p>
          <a:p>
            <a:pPr>
              <a:spcBef>
                <a:spcPts val="800"/>
              </a:spcBef>
              <a:buNone/>
            </a:pPr>
            <a:r>
              <a:rPr lang="en-US" sz="1800" b="1" dirty="0"/>
              <a:t>Personalized Learning Paths</a:t>
            </a:r>
          </a:p>
          <a:p>
            <a:pPr marL="515938" indent="-282575">
              <a:spcBef>
                <a:spcPts val="800"/>
              </a:spcBef>
              <a:buFont typeface="Courier New" panose="02070309020205020404" pitchFamily="49" charset="0"/>
              <a:buChar char="o"/>
            </a:pPr>
            <a:r>
              <a:rPr lang="en-US" sz="1600" dirty="0"/>
              <a:t>Courses assigned based on roles, responsibilities, skill level, and interests.</a:t>
            </a:r>
          </a:p>
          <a:p>
            <a:pPr marL="515938" indent="-282575">
              <a:spcBef>
                <a:spcPts val="800"/>
              </a:spcBef>
              <a:buFont typeface="Courier New" panose="02070309020205020404" pitchFamily="49" charset="0"/>
              <a:buChar char="o"/>
            </a:pPr>
            <a:r>
              <a:rPr lang="en-US" sz="1600" dirty="0"/>
              <a:t>Encourages continuous learning and development.</a:t>
            </a:r>
          </a:p>
          <a:p>
            <a:pPr>
              <a:spcBef>
                <a:spcPts val="800"/>
              </a:spcBef>
              <a:buNone/>
            </a:pPr>
            <a:r>
              <a:rPr lang="en-US" sz="1800" b="1" dirty="0"/>
              <a:t>Interactive and Engaging Content</a:t>
            </a:r>
          </a:p>
          <a:p>
            <a:pPr marL="515938" indent="-282575">
              <a:spcBef>
                <a:spcPts val="800"/>
              </a:spcBef>
              <a:buFont typeface="Courier New" panose="02070309020205020404" pitchFamily="49" charset="0"/>
              <a:buChar char="o"/>
            </a:pPr>
            <a:r>
              <a:rPr lang="en-US" sz="1600" dirty="0"/>
              <a:t>Offers bite-sized, micro-learning that is up-to-date.</a:t>
            </a:r>
          </a:p>
          <a:p>
            <a:pPr marL="515938" indent="-282575">
              <a:spcBef>
                <a:spcPts val="800"/>
              </a:spcBef>
              <a:buFont typeface="Courier New" panose="02070309020205020404" pitchFamily="49" charset="0"/>
              <a:buChar char="o"/>
            </a:pPr>
            <a:r>
              <a:rPr lang="en-US" sz="1600" dirty="0"/>
              <a:t>Combines interactive presentations, videos, live practice, quizzes, gamification, and certifications.</a:t>
            </a:r>
          </a:p>
          <a:p>
            <a:pPr marL="515938" indent="-282575">
              <a:spcBef>
                <a:spcPts val="800"/>
              </a:spcBef>
              <a:buFont typeface="Courier New" panose="02070309020205020404" pitchFamily="49" charset="0"/>
              <a:buChar char="o"/>
            </a:pPr>
            <a:r>
              <a:rPr lang="en-US" sz="1600" dirty="0"/>
              <a:t>Increases retention and participation on internal team.</a:t>
            </a:r>
          </a:p>
          <a:p>
            <a:pPr>
              <a:spcBef>
                <a:spcPts val="800"/>
              </a:spcBef>
              <a:buNone/>
            </a:pPr>
            <a:r>
              <a:rPr lang="en-US" sz="1600" b="1" dirty="0"/>
              <a:t>Recognition and Certification</a:t>
            </a:r>
          </a:p>
          <a:p>
            <a:pPr marL="515938" indent="-282575">
              <a:spcBef>
                <a:spcPts val="800"/>
              </a:spcBef>
              <a:buFont typeface="Courier New" panose="02070309020205020404" pitchFamily="49" charset="0"/>
              <a:buChar char="o"/>
            </a:pPr>
            <a:r>
              <a:rPr lang="en-US" sz="1600" dirty="0"/>
              <a:t>Learners receive certificates upon completion.</a:t>
            </a:r>
          </a:p>
          <a:p>
            <a:pPr marL="515938" indent="-282575">
              <a:spcBef>
                <a:spcPts val="800"/>
              </a:spcBef>
              <a:buFont typeface="Courier New" panose="02070309020205020404" pitchFamily="49" charset="0"/>
              <a:buChar char="o"/>
            </a:pPr>
            <a:r>
              <a:rPr lang="en-US" sz="1600" dirty="0"/>
              <a:t>Can be used for internal promotions or external credentials.</a:t>
            </a:r>
          </a:p>
        </p:txBody>
      </p:sp>
    </p:spTree>
    <p:extLst>
      <p:ext uri="{BB962C8B-B14F-4D97-AF65-F5344CB8AC3E}">
        <p14:creationId xmlns:p14="http://schemas.microsoft.com/office/powerpoint/2010/main" val="29145088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D9A2D-3E7B-B5D7-2BE1-A240A2B4AD49}"/>
              </a:ext>
            </a:extLst>
          </p:cNvPr>
          <p:cNvSpPr>
            <a:spLocks noGrp="1"/>
          </p:cNvSpPr>
          <p:nvPr>
            <p:ph type="title"/>
          </p:nvPr>
        </p:nvSpPr>
        <p:spPr>
          <a:xfrm>
            <a:off x="6328613" y="3429000"/>
            <a:ext cx="4939666" cy="2542810"/>
          </a:xfrm>
        </p:spPr>
        <p:txBody>
          <a:bodyPr/>
          <a:lstStyle/>
          <a:p>
            <a:r>
              <a:rPr lang="en-US" dirty="0"/>
              <a:t>LMS Platforms Reviewed</a:t>
            </a:r>
          </a:p>
        </p:txBody>
      </p:sp>
      <p:sp>
        <p:nvSpPr>
          <p:cNvPr id="5" name="TextBox 4">
            <a:extLst>
              <a:ext uri="{FF2B5EF4-FFF2-40B4-BE49-F238E27FC236}">
                <a16:creationId xmlns:a16="http://schemas.microsoft.com/office/drawing/2014/main" id="{EA55D5BE-9BE5-6880-5EF0-D59E5EF27E2D}"/>
              </a:ext>
            </a:extLst>
          </p:cNvPr>
          <p:cNvSpPr txBox="1"/>
          <p:nvPr/>
        </p:nvSpPr>
        <p:spPr>
          <a:xfrm>
            <a:off x="583660" y="593387"/>
            <a:ext cx="5389123" cy="6247864"/>
          </a:xfrm>
          <a:prstGeom prst="rect">
            <a:avLst/>
          </a:prstGeom>
          <a:noFill/>
        </p:spPr>
        <p:txBody>
          <a:bodyPr wrap="square" rtlCol="0">
            <a:spAutoFit/>
          </a:bodyPr>
          <a:lstStyle/>
          <a:p>
            <a:pPr marL="285750" lvl="0" indent="-285750">
              <a:spcBef>
                <a:spcPts val="600"/>
              </a:spcBef>
              <a:buFont typeface="Arial" panose="020B0604020202020204" pitchFamily="34" charset="0"/>
              <a:buChar char="•"/>
            </a:pPr>
            <a:r>
              <a:rPr lang="en-US" dirty="0">
                <a:solidFill>
                  <a:schemeClr val="bg1"/>
                </a:solidFill>
              </a:rPr>
              <a:t>Twelve platforms were investigated based on online ratings.</a:t>
            </a:r>
          </a:p>
          <a:p>
            <a:pPr marL="285750" lvl="0" indent="-285750">
              <a:spcBef>
                <a:spcPts val="600"/>
              </a:spcBef>
              <a:buFont typeface="Arial" panose="020B0604020202020204" pitchFamily="34" charset="0"/>
              <a:buChar char="•"/>
            </a:pPr>
            <a:r>
              <a:rPr lang="en-US" dirty="0">
                <a:solidFill>
                  <a:schemeClr val="bg1"/>
                </a:solidFill>
              </a:rPr>
              <a:t>The top twelve were then filtered by capabilities, target markets, and estimated costs.</a:t>
            </a:r>
          </a:p>
          <a:p>
            <a:pPr marL="285750" lvl="0" indent="-285750">
              <a:spcBef>
                <a:spcPts val="600"/>
              </a:spcBef>
              <a:buFont typeface="Arial" panose="020B0604020202020204" pitchFamily="34" charset="0"/>
              <a:buChar char="•"/>
            </a:pPr>
            <a:r>
              <a:rPr lang="en-US" dirty="0">
                <a:solidFill>
                  <a:schemeClr val="bg1"/>
                </a:solidFill>
              </a:rPr>
              <a:t>Only those organizations with an API capable of integrating with our sandbox made it to the next level.</a:t>
            </a:r>
          </a:p>
          <a:p>
            <a:pPr marL="285750" lvl="0" indent="-285750">
              <a:spcBef>
                <a:spcPts val="600"/>
              </a:spcBef>
              <a:buFont typeface="Arial" panose="020B0604020202020204" pitchFamily="34" charset="0"/>
              <a:buChar char="•"/>
            </a:pPr>
            <a:r>
              <a:rPr lang="en-US" dirty="0">
                <a:solidFill>
                  <a:schemeClr val="bg1"/>
                </a:solidFill>
              </a:rPr>
              <a:t>A top five list was created that included iSpring, Litmos, Docebo, Absorb, and Thinkific.</a:t>
            </a:r>
          </a:p>
          <a:p>
            <a:pPr marL="285750" indent="-285750">
              <a:spcBef>
                <a:spcPts val="600"/>
              </a:spcBef>
              <a:buFont typeface="Arial" panose="020B0604020202020204" pitchFamily="34" charset="0"/>
              <a:buChar char="•"/>
            </a:pPr>
            <a:r>
              <a:rPr lang="en-US" dirty="0">
                <a:solidFill>
                  <a:schemeClr val="bg1"/>
                </a:solidFill>
              </a:rPr>
              <a:t>A scoring sheet was developed to compare the performance of the top five.</a:t>
            </a:r>
          </a:p>
          <a:p>
            <a:pPr marL="285750" indent="-285750">
              <a:spcBef>
                <a:spcPts val="600"/>
              </a:spcBef>
              <a:buFont typeface="Arial" panose="020B0604020202020204" pitchFamily="34" charset="0"/>
              <a:buChar char="•"/>
            </a:pPr>
            <a:r>
              <a:rPr lang="en-US" dirty="0">
                <a:solidFill>
                  <a:schemeClr val="bg1"/>
                </a:solidFill>
              </a:rPr>
              <a:t>After multiple meetings and demos, two platforms had superior performance and capabilities: Litmos and Docebo.</a:t>
            </a:r>
          </a:p>
          <a:p>
            <a:pPr marL="285750" indent="-285750">
              <a:spcBef>
                <a:spcPts val="600"/>
              </a:spcBef>
              <a:buFont typeface="Arial" panose="020B0604020202020204" pitchFamily="34" charset="0"/>
              <a:buChar char="•"/>
            </a:pPr>
            <a:r>
              <a:rPr lang="en-US" dirty="0">
                <a:solidFill>
                  <a:schemeClr val="bg1"/>
                </a:solidFill>
              </a:rPr>
              <a:t>Litmos, the lower cost option, offers all the necessary features including a sandbox interface.</a:t>
            </a:r>
          </a:p>
          <a:p>
            <a:pPr marL="285750" indent="-285750">
              <a:spcBef>
                <a:spcPts val="600"/>
              </a:spcBef>
              <a:buFont typeface="Arial" panose="020B0604020202020204" pitchFamily="34" charset="0"/>
              <a:buChar char="•"/>
            </a:pPr>
            <a:r>
              <a:rPr lang="en-US" dirty="0">
                <a:solidFill>
                  <a:schemeClr val="bg1"/>
                </a:solidFill>
              </a:rPr>
              <a:t>Docebo, the higher cost option, not only offers all the necessities it also offer several additional features.</a:t>
            </a:r>
          </a:p>
          <a:p>
            <a:pPr marL="285750" lvl="0" indent="-285750">
              <a:spcBef>
                <a:spcPts val="600"/>
              </a:spcBef>
              <a:buFont typeface="Arial" panose="020B0604020202020204" pitchFamily="34" charset="0"/>
              <a:buChar char="•"/>
            </a:pPr>
            <a:endParaRPr lang="en-US" dirty="0">
              <a:solidFill>
                <a:schemeClr val="bg1"/>
              </a:solidFill>
            </a:endParaRPr>
          </a:p>
        </p:txBody>
      </p:sp>
    </p:spTree>
    <p:extLst>
      <p:ext uri="{BB962C8B-B14F-4D97-AF65-F5344CB8AC3E}">
        <p14:creationId xmlns:p14="http://schemas.microsoft.com/office/powerpoint/2010/main" val="28406058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6A9A9A7-F1D2-237D-AC72-E21A286F0A6F}"/>
              </a:ext>
            </a:extLst>
          </p:cNvPr>
          <p:cNvSpPr>
            <a:spLocks noGrp="1"/>
          </p:cNvSpPr>
          <p:nvPr>
            <p:ph type="title"/>
          </p:nvPr>
        </p:nvSpPr>
        <p:spPr>
          <a:xfrm>
            <a:off x="487903" y="125674"/>
            <a:ext cx="9131226" cy="771230"/>
          </a:xfrm>
        </p:spPr>
        <p:txBody>
          <a:bodyPr/>
          <a:lstStyle/>
          <a:p>
            <a:r>
              <a:rPr lang="en-US" dirty="0"/>
              <a:t>Training Attendance Information</a:t>
            </a:r>
          </a:p>
        </p:txBody>
      </p:sp>
      <p:graphicFrame>
        <p:nvGraphicFramePr>
          <p:cNvPr id="8" name="Table Placeholder 2">
            <a:extLst>
              <a:ext uri="{FF2B5EF4-FFF2-40B4-BE49-F238E27FC236}">
                <a16:creationId xmlns:a16="http://schemas.microsoft.com/office/drawing/2014/main" id="{C60AA2D2-28D7-69D7-F6C5-B31DAD3332C1}"/>
              </a:ext>
            </a:extLst>
          </p:cNvPr>
          <p:cNvGraphicFramePr>
            <a:graphicFrameLocks noGrp="1"/>
          </p:cNvGraphicFramePr>
          <p:nvPr>
            <p:ph sz="quarter" idx="13"/>
            <p:extLst>
              <p:ext uri="{D42A27DB-BD31-4B8C-83A1-F6EECF244321}">
                <p14:modId xmlns:p14="http://schemas.microsoft.com/office/powerpoint/2010/main" val="2334465201"/>
              </p:ext>
            </p:extLst>
          </p:nvPr>
        </p:nvGraphicFramePr>
        <p:xfrm>
          <a:off x="1953929" y="1402478"/>
          <a:ext cx="9610542" cy="2766822"/>
        </p:xfrm>
        <a:graphic>
          <a:graphicData uri="http://schemas.openxmlformats.org/drawingml/2006/table">
            <a:tbl>
              <a:tblPr firstRow="1" bandRow="1">
                <a:tableStyleId>{8A107856-5554-42FB-B03E-39F5DBC370BA}</a:tableStyleId>
              </a:tblPr>
              <a:tblGrid>
                <a:gridCol w="2639767">
                  <a:extLst>
                    <a:ext uri="{9D8B030D-6E8A-4147-A177-3AD203B41FA5}">
                      <a16:colId xmlns:a16="http://schemas.microsoft.com/office/drawing/2014/main" val="127040821"/>
                    </a:ext>
                  </a:extLst>
                </a:gridCol>
                <a:gridCol w="2317626">
                  <a:extLst>
                    <a:ext uri="{9D8B030D-6E8A-4147-A177-3AD203B41FA5}">
                      <a16:colId xmlns:a16="http://schemas.microsoft.com/office/drawing/2014/main" val="149845700"/>
                    </a:ext>
                  </a:extLst>
                </a:gridCol>
                <a:gridCol w="2219192">
                  <a:extLst>
                    <a:ext uri="{9D8B030D-6E8A-4147-A177-3AD203B41FA5}">
                      <a16:colId xmlns:a16="http://schemas.microsoft.com/office/drawing/2014/main" val="1455788991"/>
                    </a:ext>
                  </a:extLst>
                </a:gridCol>
                <a:gridCol w="2433957">
                  <a:extLst>
                    <a:ext uri="{9D8B030D-6E8A-4147-A177-3AD203B41FA5}">
                      <a16:colId xmlns:a16="http://schemas.microsoft.com/office/drawing/2014/main" val="3119692462"/>
                    </a:ext>
                  </a:extLst>
                </a:gridCol>
              </a:tblGrid>
              <a:tr h="494938">
                <a:tc>
                  <a:txBody>
                    <a:bodyPr/>
                    <a:lstStyle/>
                    <a:p>
                      <a:pPr algn="ctr"/>
                      <a:r>
                        <a:rPr lang="en-US" b="0" dirty="0">
                          <a:latin typeface="+mj-lt"/>
                        </a:rPr>
                        <a:t>Platform</a:t>
                      </a:r>
                    </a:p>
                  </a:txBody>
                  <a:tcPr anchor="ctr"/>
                </a:tc>
                <a:tc>
                  <a:txBody>
                    <a:bodyPr/>
                    <a:lstStyle/>
                    <a:p>
                      <a:pPr algn="ctr"/>
                      <a:r>
                        <a:rPr lang="en-US" b="0" dirty="0">
                          <a:latin typeface="+mj-lt"/>
                        </a:rPr>
                        <a:t>Total Organizations</a:t>
                      </a:r>
                    </a:p>
                  </a:txBody>
                  <a:tcPr anchor="ctr"/>
                </a:tc>
                <a:tc>
                  <a:txBody>
                    <a:bodyPr/>
                    <a:lstStyle/>
                    <a:p>
                      <a:pPr algn="ctr"/>
                      <a:r>
                        <a:rPr lang="en-US" b="0" dirty="0">
                          <a:latin typeface="+mj-lt"/>
                        </a:rPr>
                        <a:t>Total Unique Attendees</a:t>
                      </a:r>
                    </a:p>
                  </a:txBody>
                  <a:tcPr anchor="ctr"/>
                </a:tc>
                <a:tc>
                  <a:txBody>
                    <a:bodyPr/>
                    <a:lstStyle/>
                    <a:p>
                      <a:pPr algn="ctr"/>
                      <a:r>
                        <a:rPr lang="en-US" b="0" dirty="0">
                          <a:latin typeface="+mj-lt"/>
                        </a:rPr>
                        <a:t>Estimated Average New Users Per Month</a:t>
                      </a:r>
                    </a:p>
                  </a:txBody>
                  <a:tcPr anchor="ctr"/>
                </a:tc>
                <a:extLst>
                  <a:ext uri="{0D108BD9-81ED-4DB2-BD59-A6C34878D82A}">
                    <a16:rowId xmlns:a16="http://schemas.microsoft.com/office/drawing/2014/main" val="3298013591"/>
                  </a:ext>
                </a:extLst>
              </a:tr>
              <a:tr h="708914">
                <a:tc>
                  <a:txBody>
                    <a:bodyPr/>
                    <a:lstStyle/>
                    <a:p>
                      <a:pPr algn="ctr"/>
                      <a:r>
                        <a:rPr lang="en-US" b="0" dirty="0"/>
                        <a:t>DonorView</a:t>
                      </a:r>
                    </a:p>
                  </a:txBody>
                  <a:tcPr anchor="ctr"/>
                </a:tc>
                <a:tc>
                  <a:txBody>
                    <a:bodyPr/>
                    <a:lstStyle/>
                    <a:p>
                      <a:pPr algn="ctr"/>
                      <a:r>
                        <a:rPr lang="en-US" b="0" dirty="0"/>
                        <a:t>78</a:t>
                      </a:r>
                    </a:p>
                  </a:txBody>
                  <a:tcPr anchor="ctr"/>
                </a:tc>
                <a:tc>
                  <a:txBody>
                    <a:bodyPr/>
                    <a:lstStyle/>
                    <a:p>
                      <a:pPr algn="ctr"/>
                      <a:r>
                        <a:rPr lang="en-US" b="0" dirty="0"/>
                        <a:t>225</a:t>
                      </a:r>
                    </a:p>
                  </a:txBody>
                  <a:tcPr anchor="ctr"/>
                </a:tc>
                <a:tc>
                  <a:txBody>
                    <a:bodyPr/>
                    <a:lstStyle/>
                    <a:p>
                      <a:pPr algn="ctr"/>
                      <a:r>
                        <a:rPr lang="en-US" b="0" dirty="0"/>
                        <a:t>56</a:t>
                      </a:r>
                    </a:p>
                  </a:txBody>
                  <a:tcPr anchor="ctr"/>
                </a:tc>
                <a:extLst>
                  <a:ext uri="{0D108BD9-81ED-4DB2-BD59-A6C34878D82A}">
                    <a16:rowId xmlns:a16="http://schemas.microsoft.com/office/drawing/2014/main" val="3873867931"/>
                  </a:ext>
                </a:extLst>
              </a:tr>
              <a:tr h="708914">
                <a:tc>
                  <a:txBody>
                    <a:bodyPr/>
                    <a:lstStyle/>
                    <a:p>
                      <a:pPr algn="ctr"/>
                      <a:r>
                        <a:rPr lang="en-US" b="0" dirty="0"/>
                        <a:t>AssociationSphere </a:t>
                      </a:r>
                    </a:p>
                    <a:p>
                      <a:pPr algn="ctr"/>
                      <a:r>
                        <a:rPr lang="en-US" b="0" dirty="0"/>
                        <a:t>(no NAREB)</a:t>
                      </a:r>
                    </a:p>
                  </a:txBody>
                  <a:tcPr anchor="ctr"/>
                </a:tc>
                <a:tc>
                  <a:txBody>
                    <a:bodyPr/>
                    <a:lstStyle/>
                    <a:p>
                      <a:pPr algn="ctr"/>
                      <a:r>
                        <a:rPr lang="en-US" b="0" dirty="0"/>
                        <a:t>36</a:t>
                      </a:r>
                    </a:p>
                  </a:txBody>
                  <a:tcPr anchor="ctr"/>
                </a:tc>
                <a:tc>
                  <a:txBody>
                    <a:bodyPr/>
                    <a:lstStyle/>
                    <a:p>
                      <a:pPr algn="ctr"/>
                      <a:r>
                        <a:rPr lang="en-US" b="0" dirty="0"/>
                        <a:t>103</a:t>
                      </a:r>
                    </a:p>
                  </a:txBody>
                  <a:tcPr anchor="ctr"/>
                </a:tc>
                <a:tc>
                  <a:txBody>
                    <a:bodyPr/>
                    <a:lstStyle/>
                    <a:p>
                      <a:pPr algn="ctr"/>
                      <a:r>
                        <a:rPr lang="en-US" b="0" dirty="0"/>
                        <a:t>25</a:t>
                      </a:r>
                    </a:p>
                  </a:txBody>
                  <a:tcPr anchor="ctr"/>
                </a:tc>
                <a:extLst>
                  <a:ext uri="{0D108BD9-81ED-4DB2-BD59-A6C34878D82A}">
                    <a16:rowId xmlns:a16="http://schemas.microsoft.com/office/drawing/2014/main" val="85209771"/>
                  </a:ext>
                </a:extLst>
              </a:tr>
              <a:tr h="708914">
                <a:tc>
                  <a:txBody>
                    <a:bodyPr/>
                    <a:lstStyle/>
                    <a:p>
                      <a:pPr algn="ctr"/>
                      <a:r>
                        <a:rPr lang="en-US" b="0" dirty="0"/>
                        <a:t>AssociationSphere (including NAREB)</a:t>
                      </a:r>
                    </a:p>
                  </a:txBody>
                  <a:tcPr anchor="ctr"/>
                </a:tc>
                <a:tc>
                  <a:txBody>
                    <a:bodyPr/>
                    <a:lstStyle/>
                    <a:p>
                      <a:pPr algn="ctr"/>
                      <a:r>
                        <a:rPr lang="en-US" b="0" dirty="0"/>
                        <a:t>37</a:t>
                      </a:r>
                    </a:p>
                  </a:txBody>
                  <a:tcPr anchor="ctr"/>
                </a:tc>
                <a:tc>
                  <a:txBody>
                    <a:bodyPr/>
                    <a:lstStyle/>
                    <a:p>
                      <a:pPr algn="ctr"/>
                      <a:r>
                        <a:rPr lang="en-US" b="0" dirty="0"/>
                        <a:t>215</a:t>
                      </a:r>
                    </a:p>
                  </a:txBody>
                  <a:tcPr anchor="ctr"/>
                </a:tc>
                <a:tc>
                  <a:txBody>
                    <a:bodyPr/>
                    <a:lstStyle/>
                    <a:p>
                      <a:pPr algn="ctr"/>
                      <a:r>
                        <a:rPr lang="en-US" b="0" dirty="0"/>
                        <a:t>54</a:t>
                      </a:r>
                    </a:p>
                  </a:txBody>
                  <a:tcPr anchor="ctr"/>
                </a:tc>
                <a:extLst>
                  <a:ext uri="{0D108BD9-81ED-4DB2-BD59-A6C34878D82A}">
                    <a16:rowId xmlns:a16="http://schemas.microsoft.com/office/drawing/2014/main" val="3684969276"/>
                  </a:ext>
                </a:extLst>
              </a:tr>
            </a:tbl>
          </a:graphicData>
        </a:graphic>
      </p:graphicFrame>
      <p:sp>
        <p:nvSpPr>
          <p:cNvPr id="5" name="TextBox 4">
            <a:extLst>
              <a:ext uri="{FF2B5EF4-FFF2-40B4-BE49-F238E27FC236}">
                <a16:creationId xmlns:a16="http://schemas.microsoft.com/office/drawing/2014/main" id="{56A9A4B1-106A-D665-BA03-57F19E4D96D6}"/>
              </a:ext>
            </a:extLst>
          </p:cNvPr>
          <p:cNvSpPr txBox="1"/>
          <p:nvPr/>
        </p:nvSpPr>
        <p:spPr>
          <a:xfrm>
            <a:off x="2335980" y="4271462"/>
            <a:ext cx="9228491" cy="1815882"/>
          </a:xfrm>
          <a:prstGeom prst="rect">
            <a:avLst/>
          </a:prstGeom>
          <a:noFill/>
        </p:spPr>
        <p:txBody>
          <a:bodyPr wrap="square" rtlCol="0">
            <a:spAutoFit/>
          </a:bodyPr>
          <a:lstStyle/>
          <a:p>
            <a:pPr marL="285750" indent="-285750">
              <a:buFont typeface="Arial" panose="020B0604020202020204" pitchFamily="34" charset="0"/>
              <a:buChar char="•"/>
            </a:pPr>
            <a:r>
              <a:rPr lang="en-US" sz="1400" dirty="0">
                <a:solidFill>
                  <a:schemeClr val="bg1"/>
                </a:solidFill>
              </a:rPr>
              <a:t>Data was reviewed between January and April 2025. Based on a review of this data, it was estimated that there would be approximately 100 total users logging in for training in any given month. This did not include video viewers (see next slide)</a:t>
            </a:r>
          </a:p>
          <a:p>
            <a:pPr marL="285750" indent="-285750">
              <a:buFont typeface="Arial" panose="020B0604020202020204" pitchFamily="34" charset="0"/>
              <a:buChar char="•"/>
            </a:pPr>
            <a:r>
              <a:rPr lang="en-US" sz="1400" dirty="0">
                <a:solidFill>
                  <a:schemeClr val="bg1"/>
                </a:solidFill>
              </a:rPr>
              <a:t>Includes new and existing organizations/users who participated in initial, webinar, and specialized training sessions.</a:t>
            </a:r>
          </a:p>
          <a:p>
            <a:pPr marL="285750" indent="-285750">
              <a:buFont typeface="Arial" panose="020B0604020202020204" pitchFamily="34" charset="0"/>
              <a:buChar char="•"/>
            </a:pPr>
            <a:r>
              <a:rPr lang="en-US" sz="1400" dirty="0">
                <a:solidFill>
                  <a:schemeClr val="bg1"/>
                </a:solidFill>
              </a:rPr>
              <a:t>AssociationSphere will often have all board members attend initial training, but they never log in or attend any other training. Their number is likely inflated due to this phenomenon.</a:t>
            </a:r>
          </a:p>
          <a:p>
            <a:pPr marL="285750" indent="-285750">
              <a:buFont typeface="Arial" panose="020B0604020202020204" pitchFamily="34" charset="0"/>
              <a:buChar char="•"/>
            </a:pPr>
            <a:r>
              <a:rPr lang="en-US" sz="1400" dirty="0">
                <a:solidFill>
                  <a:schemeClr val="bg1"/>
                </a:solidFill>
              </a:rPr>
              <a:t>Note that NAREB is a wildcard – their board leaderships turn over frequently, they have over 130 boards, and sometimes multiple users per board. Their internal team is not currently capable of providing training to their users.</a:t>
            </a:r>
          </a:p>
        </p:txBody>
      </p:sp>
    </p:spTree>
    <p:extLst>
      <p:ext uri="{BB962C8B-B14F-4D97-AF65-F5344CB8AC3E}">
        <p14:creationId xmlns:p14="http://schemas.microsoft.com/office/powerpoint/2010/main" val="41276951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39A77-0065-8DC0-D54C-115A365BFF5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DB1C750-DE37-2ACC-CE9D-F5B9B9D02127}"/>
              </a:ext>
            </a:extLst>
          </p:cNvPr>
          <p:cNvSpPr>
            <a:spLocks noGrp="1"/>
          </p:cNvSpPr>
          <p:nvPr>
            <p:ph type="title"/>
          </p:nvPr>
        </p:nvSpPr>
        <p:spPr>
          <a:xfrm>
            <a:off x="487903" y="125674"/>
            <a:ext cx="9131226" cy="771230"/>
          </a:xfrm>
        </p:spPr>
        <p:txBody>
          <a:bodyPr/>
          <a:lstStyle/>
          <a:p>
            <a:r>
              <a:rPr lang="en-US" dirty="0"/>
              <a:t>Video Analytics</a:t>
            </a:r>
          </a:p>
        </p:txBody>
      </p:sp>
      <p:graphicFrame>
        <p:nvGraphicFramePr>
          <p:cNvPr id="8" name="Table Placeholder 2">
            <a:extLst>
              <a:ext uri="{FF2B5EF4-FFF2-40B4-BE49-F238E27FC236}">
                <a16:creationId xmlns:a16="http://schemas.microsoft.com/office/drawing/2014/main" id="{02E0582C-5B7B-C70C-B5FE-017B6D33AA67}"/>
              </a:ext>
            </a:extLst>
          </p:cNvPr>
          <p:cNvGraphicFramePr>
            <a:graphicFrameLocks noGrp="1"/>
          </p:cNvGraphicFramePr>
          <p:nvPr>
            <p:ph sz="quarter" idx="13"/>
            <p:extLst>
              <p:ext uri="{D42A27DB-BD31-4B8C-83A1-F6EECF244321}">
                <p14:modId xmlns:p14="http://schemas.microsoft.com/office/powerpoint/2010/main" val="1739412819"/>
              </p:ext>
            </p:extLst>
          </p:nvPr>
        </p:nvGraphicFramePr>
        <p:xfrm>
          <a:off x="2470450" y="1178362"/>
          <a:ext cx="8865467" cy="3840339"/>
        </p:xfrm>
        <a:graphic>
          <a:graphicData uri="http://schemas.openxmlformats.org/drawingml/2006/table">
            <a:tbl>
              <a:tblPr firstRow="1" bandRow="1">
                <a:tableStyleId>{8A107856-5554-42FB-B03E-39F5DBC370BA}</a:tableStyleId>
              </a:tblPr>
              <a:tblGrid>
                <a:gridCol w="2435114">
                  <a:extLst>
                    <a:ext uri="{9D8B030D-6E8A-4147-A177-3AD203B41FA5}">
                      <a16:colId xmlns:a16="http://schemas.microsoft.com/office/drawing/2014/main" val="127040821"/>
                    </a:ext>
                  </a:extLst>
                </a:gridCol>
                <a:gridCol w="2137948">
                  <a:extLst>
                    <a:ext uri="{9D8B030D-6E8A-4147-A177-3AD203B41FA5}">
                      <a16:colId xmlns:a16="http://schemas.microsoft.com/office/drawing/2014/main" val="149845700"/>
                    </a:ext>
                  </a:extLst>
                </a:gridCol>
                <a:gridCol w="2047145">
                  <a:extLst>
                    <a:ext uri="{9D8B030D-6E8A-4147-A177-3AD203B41FA5}">
                      <a16:colId xmlns:a16="http://schemas.microsoft.com/office/drawing/2014/main" val="1455788991"/>
                    </a:ext>
                  </a:extLst>
                </a:gridCol>
                <a:gridCol w="2245260">
                  <a:extLst>
                    <a:ext uri="{9D8B030D-6E8A-4147-A177-3AD203B41FA5}">
                      <a16:colId xmlns:a16="http://schemas.microsoft.com/office/drawing/2014/main" val="3119692462"/>
                    </a:ext>
                  </a:extLst>
                </a:gridCol>
              </a:tblGrid>
              <a:tr h="576696">
                <a:tc>
                  <a:txBody>
                    <a:bodyPr/>
                    <a:lstStyle/>
                    <a:p>
                      <a:pPr algn="ctr"/>
                      <a:r>
                        <a:rPr lang="en-US" b="0" dirty="0">
                          <a:latin typeface="+mj-lt"/>
                        </a:rPr>
                        <a:t>Month</a:t>
                      </a:r>
                    </a:p>
                  </a:txBody>
                  <a:tcPr anchor="ctr"/>
                </a:tc>
                <a:tc>
                  <a:txBody>
                    <a:bodyPr/>
                    <a:lstStyle/>
                    <a:p>
                      <a:pPr algn="ctr"/>
                      <a:r>
                        <a:rPr lang="en-US" b="0" dirty="0">
                          <a:latin typeface="+mj-lt"/>
                        </a:rPr>
                        <a:t>Total Videos Watched</a:t>
                      </a:r>
                    </a:p>
                  </a:txBody>
                  <a:tcPr anchor="ctr"/>
                </a:tc>
                <a:tc>
                  <a:txBody>
                    <a:bodyPr/>
                    <a:lstStyle/>
                    <a:p>
                      <a:pPr algn="ctr"/>
                      <a:r>
                        <a:rPr lang="en-US" b="0" dirty="0">
                          <a:latin typeface="+mj-lt"/>
                        </a:rPr>
                        <a:t>Total Unique Viewers</a:t>
                      </a:r>
                    </a:p>
                  </a:txBody>
                  <a:tcPr anchor="ctr"/>
                </a:tc>
                <a:tc>
                  <a:txBody>
                    <a:bodyPr/>
                    <a:lstStyle/>
                    <a:p>
                      <a:pPr algn="ctr"/>
                      <a:r>
                        <a:rPr lang="en-US" b="0" dirty="0">
                          <a:latin typeface="+mj-lt"/>
                        </a:rPr>
                        <a:t>Total Hours Watched</a:t>
                      </a:r>
                    </a:p>
                  </a:txBody>
                  <a:tcPr anchor="ctr"/>
                </a:tc>
                <a:extLst>
                  <a:ext uri="{0D108BD9-81ED-4DB2-BD59-A6C34878D82A}">
                    <a16:rowId xmlns:a16="http://schemas.microsoft.com/office/drawing/2014/main" val="3298013591"/>
                  </a:ext>
                </a:extLst>
              </a:tr>
              <a:tr h="602029">
                <a:tc>
                  <a:txBody>
                    <a:bodyPr/>
                    <a:lstStyle/>
                    <a:p>
                      <a:pPr algn="ctr"/>
                      <a:r>
                        <a:rPr lang="en-US" sz="1600" b="0" dirty="0"/>
                        <a:t>January</a:t>
                      </a:r>
                    </a:p>
                  </a:txBody>
                  <a:tcPr anchor="ctr"/>
                </a:tc>
                <a:tc>
                  <a:txBody>
                    <a:bodyPr/>
                    <a:lstStyle/>
                    <a:p>
                      <a:pPr algn="ctr" fontAlgn="b">
                        <a:buNone/>
                      </a:pPr>
                      <a:r>
                        <a:rPr lang="en-US" sz="1600" b="0" i="0" u="none" strike="noStrike" dirty="0">
                          <a:effectLst/>
                          <a:latin typeface="Arial" panose="020B0604020202020204" pitchFamily="34" charset="0"/>
                        </a:rPr>
                        <a:t>1284</a:t>
                      </a:r>
                    </a:p>
                  </a:txBody>
                  <a:tcPr marL="9525" marR="9525" marT="9525" marB="0" anchor="ctr"/>
                </a:tc>
                <a:tc>
                  <a:txBody>
                    <a:bodyPr/>
                    <a:lstStyle/>
                    <a:p>
                      <a:pPr algn="ctr" fontAlgn="b">
                        <a:buNone/>
                      </a:pPr>
                      <a:r>
                        <a:rPr lang="en-US" sz="1600" b="0" i="0" u="none" strike="noStrike" dirty="0">
                          <a:effectLst/>
                          <a:latin typeface="Arial" panose="020B0604020202020204" pitchFamily="34" charset="0"/>
                        </a:rPr>
                        <a:t>472</a:t>
                      </a:r>
                    </a:p>
                  </a:txBody>
                  <a:tcPr marL="9525" marR="9525" marT="9525" marB="0" anchor="ctr"/>
                </a:tc>
                <a:tc>
                  <a:txBody>
                    <a:bodyPr/>
                    <a:lstStyle/>
                    <a:p>
                      <a:pPr algn="ctr" fontAlgn="b">
                        <a:buNone/>
                      </a:pPr>
                      <a:r>
                        <a:rPr lang="en-US" sz="1600" b="0" i="0" u="none" strike="noStrike">
                          <a:effectLst/>
                          <a:latin typeface="Arial" panose="020B0604020202020204" pitchFamily="34" charset="0"/>
                        </a:rPr>
                        <a:t>135</a:t>
                      </a:r>
                    </a:p>
                  </a:txBody>
                  <a:tcPr marL="9525" marR="9525" marT="9525" marB="0" anchor="ctr"/>
                </a:tc>
                <a:extLst>
                  <a:ext uri="{0D108BD9-81ED-4DB2-BD59-A6C34878D82A}">
                    <a16:rowId xmlns:a16="http://schemas.microsoft.com/office/drawing/2014/main" val="3873867931"/>
                  </a:ext>
                </a:extLst>
              </a:tr>
              <a:tr h="636494">
                <a:tc>
                  <a:txBody>
                    <a:bodyPr/>
                    <a:lstStyle/>
                    <a:p>
                      <a:pPr algn="ctr"/>
                      <a:r>
                        <a:rPr lang="en-US" sz="1600" b="0" dirty="0"/>
                        <a:t>February</a:t>
                      </a:r>
                    </a:p>
                  </a:txBody>
                  <a:tcPr anchor="ctr"/>
                </a:tc>
                <a:tc>
                  <a:txBody>
                    <a:bodyPr/>
                    <a:lstStyle/>
                    <a:p>
                      <a:pPr algn="ctr" fontAlgn="b">
                        <a:buNone/>
                      </a:pPr>
                      <a:r>
                        <a:rPr lang="en-US" sz="1600" b="0" i="0" u="none" strike="noStrike">
                          <a:effectLst/>
                          <a:latin typeface="Arial" panose="020B0604020202020204" pitchFamily="34" charset="0"/>
                        </a:rPr>
                        <a:t>1023</a:t>
                      </a:r>
                    </a:p>
                  </a:txBody>
                  <a:tcPr marL="9525" marR="9525" marT="9525" marB="0" anchor="ctr"/>
                </a:tc>
                <a:tc>
                  <a:txBody>
                    <a:bodyPr/>
                    <a:lstStyle/>
                    <a:p>
                      <a:pPr algn="ctr" fontAlgn="b">
                        <a:buNone/>
                      </a:pPr>
                      <a:r>
                        <a:rPr lang="en-US" sz="1600" b="0" i="0" u="none" strike="noStrike" dirty="0">
                          <a:effectLst/>
                          <a:latin typeface="Arial" panose="020B0604020202020204" pitchFamily="34" charset="0"/>
                        </a:rPr>
                        <a:t>372</a:t>
                      </a:r>
                    </a:p>
                  </a:txBody>
                  <a:tcPr marL="9525" marR="9525" marT="9525" marB="0" anchor="ctr"/>
                </a:tc>
                <a:tc>
                  <a:txBody>
                    <a:bodyPr/>
                    <a:lstStyle/>
                    <a:p>
                      <a:pPr algn="ctr" fontAlgn="b">
                        <a:buNone/>
                      </a:pPr>
                      <a:r>
                        <a:rPr lang="en-US" sz="1600" b="0" i="0" u="none" strike="noStrike" dirty="0">
                          <a:effectLst/>
                          <a:latin typeface="Arial" panose="020B0604020202020204" pitchFamily="34" charset="0"/>
                        </a:rPr>
                        <a:t>126</a:t>
                      </a:r>
                    </a:p>
                  </a:txBody>
                  <a:tcPr marL="9525" marR="9525" marT="9525" marB="0" anchor="ctr"/>
                </a:tc>
                <a:extLst>
                  <a:ext uri="{0D108BD9-81ED-4DB2-BD59-A6C34878D82A}">
                    <a16:rowId xmlns:a16="http://schemas.microsoft.com/office/drawing/2014/main" val="85209771"/>
                  </a:ext>
                </a:extLst>
              </a:tr>
              <a:tr h="684308">
                <a:tc>
                  <a:txBody>
                    <a:bodyPr/>
                    <a:lstStyle/>
                    <a:p>
                      <a:pPr algn="ctr"/>
                      <a:r>
                        <a:rPr lang="en-US" sz="1600" b="0" dirty="0"/>
                        <a:t>March</a:t>
                      </a:r>
                    </a:p>
                  </a:txBody>
                  <a:tcPr anchor="ctr"/>
                </a:tc>
                <a:tc>
                  <a:txBody>
                    <a:bodyPr/>
                    <a:lstStyle/>
                    <a:p>
                      <a:pPr algn="ctr" fontAlgn="b">
                        <a:buNone/>
                      </a:pPr>
                      <a:r>
                        <a:rPr lang="en-US" sz="1600" b="0" i="0" u="none" strike="noStrike">
                          <a:effectLst/>
                          <a:latin typeface="Arial" panose="020B0604020202020204" pitchFamily="34" charset="0"/>
                        </a:rPr>
                        <a:t>1092</a:t>
                      </a:r>
                    </a:p>
                  </a:txBody>
                  <a:tcPr marL="9525" marR="9525" marT="9525" marB="0" anchor="ctr"/>
                </a:tc>
                <a:tc>
                  <a:txBody>
                    <a:bodyPr/>
                    <a:lstStyle/>
                    <a:p>
                      <a:pPr algn="ctr" fontAlgn="b">
                        <a:buNone/>
                      </a:pPr>
                      <a:r>
                        <a:rPr lang="en-US" sz="1600" b="0" i="0" u="none" strike="noStrike">
                          <a:effectLst/>
                          <a:latin typeface="Arial" panose="020B0604020202020204" pitchFamily="34" charset="0"/>
                        </a:rPr>
                        <a:t>387</a:t>
                      </a:r>
                    </a:p>
                  </a:txBody>
                  <a:tcPr marL="9525" marR="9525" marT="9525" marB="0" anchor="ctr"/>
                </a:tc>
                <a:tc>
                  <a:txBody>
                    <a:bodyPr/>
                    <a:lstStyle/>
                    <a:p>
                      <a:pPr algn="ctr" fontAlgn="b">
                        <a:buNone/>
                      </a:pPr>
                      <a:r>
                        <a:rPr lang="en-US" sz="1600" b="0" i="0" u="none" strike="noStrike" dirty="0">
                          <a:effectLst/>
                          <a:latin typeface="Arial" panose="020B0604020202020204" pitchFamily="34" charset="0"/>
                        </a:rPr>
                        <a:t>121</a:t>
                      </a:r>
                    </a:p>
                  </a:txBody>
                  <a:tcPr marL="9525" marR="9525" marT="9525" marB="0" anchor="ctr"/>
                </a:tc>
                <a:extLst>
                  <a:ext uri="{0D108BD9-81ED-4DB2-BD59-A6C34878D82A}">
                    <a16:rowId xmlns:a16="http://schemas.microsoft.com/office/drawing/2014/main" val="3684969276"/>
                  </a:ext>
                </a:extLst>
              </a:tr>
              <a:tr h="638714">
                <a:tc>
                  <a:txBody>
                    <a:bodyPr/>
                    <a:lstStyle/>
                    <a:p>
                      <a:pPr algn="ctr"/>
                      <a:r>
                        <a:rPr lang="en-US" sz="1600" b="0" dirty="0"/>
                        <a:t>April</a:t>
                      </a:r>
                    </a:p>
                  </a:txBody>
                  <a:tcPr anchor="ctr"/>
                </a:tc>
                <a:tc>
                  <a:txBody>
                    <a:bodyPr/>
                    <a:lstStyle/>
                    <a:p>
                      <a:pPr algn="ctr" fontAlgn="b">
                        <a:buNone/>
                      </a:pPr>
                      <a:r>
                        <a:rPr lang="en-US" sz="1600" b="0" i="0" u="none" strike="noStrike">
                          <a:effectLst/>
                          <a:latin typeface="Arial" panose="020B0604020202020204" pitchFamily="34" charset="0"/>
                        </a:rPr>
                        <a:t>876</a:t>
                      </a:r>
                    </a:p>
                  </a:txBody>
                  <a:tcPr marL="9525" marR="9525" marT="9525" marB="0" anchor="ctr"/>
                </a:tc>
                <a:tc>
                  <a:txBody>
                    <a:bodyPr/>
                    <a:lstStyle/>
                    <a:p>
                      <a:pPr algn="ctr" fontAlgn="b">
                        <a:buNone/>
                      </a:pPr>
                      <a:r>
                        <a:rPr lang="en-US" sz="1600" b="0" i="0" u="none" strike="noStrike">
                          <a:effectLst/>
                          <a:latin typeface="Arial" panose="020B0604020202020204" pitchFamily="34" charset="0"/>
                        </a:rPr>
                        <a:t>324</a:t>
                      </a:r>
                    </a:p>
                  </a:txBody>
                  <a:tcPr marL="9525" marR="9525" marT="9525" marB="0" anchor="ctr"/>
                </a:tc>
                <a:tc>
                  <a:txBody>
                    <a:bodyPr/>
                    <a:lstStyle/>
                    <a:p>
                      <a:pPr algn="ctr" fontAlgn="b">
                        <a:buNone/>
                      </a:pPr>
                      <a:r>
                        <a:rPr lang="en-US" sz="1600" b="0" i="0" u="none" strike="noStrike" dirty="0">
                          <a:effectLst/>
                          <a:latin typeface="Arial" panose="020B0604020202020204" pitchFamily="34" charset="0"/>
                        </a:rPr>
                        <a:t>103</a:t>
                      </a:r>
                    </a:p>
                  </a:txBody>
                  <a:tcPr marL="9525" marR="9525" marT="9525" marB="0" anchor="ctr"/>
                </a:tc>
                <a:extLst>
                  <a:ext uri="{0D108BD9-81ED-4DB2-BD59-A6C34878D82A}">
                    <a16:rowId xmlns:a16="http://schemas.microsoft.com/office/drawing/2014/main" val="876034179"/>
                  </a:ext>
                </a:extLst>
              </a:tr>
              <a:tr h="638714">
                <a:tc>
                  <a:txBody>
                    <a:bodyPr/>
                    <a:lstStyle/>
                    <a:p>
                      <a:pPr algn="ctr"/>
                      <a:r>
                        <a:rPr lang="en-US" sz="1600" b="0" dirty="0"/>
                        <a:t>May</a:t>
                      </a:r>
                    </a:p>
                  </a:txBody>
                  <a:tcPr anchor="ctr"/>
                </a:tc>
                <a:tc>
                  <a:txBody>
                    <a:bodyPr/>
                    <a:lstStyle/>
                    <a:p>
                      <a:pPr algn="ctr" fontAlgn="b">
                        <a:buNone/>
                      </a:pPr>
                      <a:r>
                        <a:rPr lang="en-US" sz="1600" b="0" i="0" u="none" strike="noStrike">
                          <a:effectLst/>
                          <a:latin typeface="Arial" panose="020B0604020202020204" pitchFamily="34" charset="0"/>
                        </a:rPr>
                        <a:t>700</a:t>
                      </a:r>
                    </a:p>
                  </a:txBody>
                  <a:tcPr marL="9525" marR="9525" marT="9525" marB="0" anchor="ctr"/>
                </a:tc>
                <a:tc>
                  <a:txBody>
                    <a:bodyPr/>
                    <a:lstStyle/>
                    <a:p>
                      <a:pPr algn="ctr" fontAlgn="b">
                        <a:buNone/>
                      </a:pPr>
                      <a:r>
                        <a:rPr lang="en-US" sz="1600" b="0" i="0" u="none" strike="noStrike">
                          <a:effectLst/>
                          <a:latin typeface="Arial" panose="020B0604020202020204" pitchFamily="34" charset="0"/>
                        </a:rPr>
                        <a:t>253</a:t>
                      </a:r>
                    </a:p>
                  </a:txBody>
                  <a:tcPr marL="9525" marR="9525" marT="9525" marB="0" anchor="ctr"/>
                </a:tc>
                <a:tc>
                  <a:txBody>
                    <a:bodyPr/>
                    <a:lstStyle/>
                    <a:p>
                      <a:pPr algn="ctr" fontAlgn="b">
                        <a:buNone/>
                      </a:pPr>
                      <a:r>
                        <a:rPr lang="en-US" sz="1600" b="0" i="0" u="none" strike="noStrike" dirty="0">
                          <a:effectLst/>
                          <a:latin typeface="Arial" panose="020B0604020202020204" pitchFamily="34" charset="0"/>
                        </a:rPr>
                        <a:t>76</a:t>
                      </a:r>
                    </a:p>
                  </a:txBody>
                  <a:tcPr marL="9525" marR="9525" marT="9525" marB="0" anchor="ctr"/>
                </a:tc>
                <a:extLst>
                  <a:ext uri="{0D108BD9-81ED-4DB2-BD59-A6C34878D82A}">
                    <a16:rowId xmlns:a16="http://schemas.microsoft.com/office/drawing/2014/main" val="218617079"/>
                  </a:ext>
                </a:extLst>
              </a:tr>
            </a:tbl>
          </a:graphicData>
        </a:graphic>
      </p:graphicFrame>
      <p:sp>
        <p:nvSpPr>
          <p:cNvPr id="2" name="Rectangle 1">
            <a:extLst>
              <a:ext uri="{FF2B5EF4-FFF2-40B4-BE49-F238E27FC236}">
                <a16:creationId xmlns:a16="http://schemas.microsoft.com/office/drawing/2014/main" id="{37C70172-6144-30A4-90EE-26F14AAD579F}"/>
              </a:ext>
            </a:extLst>
          </p:cNvPr>
          <p:cNvSpPr/>
          <p:nvPr/>
        </p:nvSpPr>
        <p:spPr>
          <a:xfrm>
            <a:off x="3541059" y="6248400"/>
            <a:ext cx="2447365" cy="24177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460977C-2837-476F-F9EB-E19E58AD4CB4}"/>
              </a:ext>
            </a:extLst>
          </p:cNvPr>
          <p:cNvSpPr txBox="1"/>
          <p:nvPr/>
        </p:nvSpPr>
        <p:spPr>
          <a:xfrm>
            <a:off x="2470450" y="5131888"/>
            <a:ext cx="9416750" cy="1600438"/>
          </a:xfrm>
          <a:prstGeom prst="rect">
            <a:avLst/>
          </a:prstGeom>
          <a:noFill/>
        </p:spPr>
        <p:txBody>
          <a:bodyPr wrap="square" rtlCol="0">
            <a:spAutoFit/>
          </a:bodyPr>
          <a:lstStyle/>
          <a:p>
            <a:pPr marL="285750" indent="-285750">
              <a:buFont typeface="Arial" panose="020B0604020202020204" pitchFamily="34" charset="0"/>
              <a:buChar char="•"/>
            </a:pPr>
            <a:r>
              <a:rPr lang="en-US" sz="1400" dirty="0">
                <a:solidFill>
                  <a:schemeClr val="bg1"/>
                </a:solidFill>
              </a:rPr>
              <a:t>Analytics reviewed from Vimeo across both platforms. There were a total of 1,456 unique viewers across all five months.</a:t>
            </a:r>
          </a:p>
          <a:p>
            <a:pPr marL="285750" indent="-285750">
              <a:buFont typeface="Arial" panose="020B0604020202020204" pitchFamily="34" charset="0"/>
              <a:buChar char="•"/>
            </a:pPr>
            <a:r>
              <a:rPr lang="en-US" sz="1400" dirty="0">
                <a:solidFill>
                  <a:schemeClr val="bg1"/>
                </a:solidFill>
              </a:rPr>
              <a:t>Videos are consumed by new and existing users, as well as by all levels of support (Basic, Essential, E+). The number of video viewers includes some of the training attendees included in the previous slide.</a:t>
            </a:r>
          </a:p>
          <a:p>
            <a:pPr marL="285750" indent="-285750">
              <a:buFont typeface="Arial" panose="020B0604020202020204" pitchFamily="34" charset="0"/>
              <a:buChar char="•"/>
            </a:pPr>
            <a:r>
              <a:rPr lang="en-US" sz="1400" dirty="0">
                <a:solidFill>
                  <a:schemeClr val="bg1"/>
                </a:solidFill>
              </a:rPr>
              <a:t>Most watched videos in the last five months:</a:t>
            </a:r>
          </a:p>
          <a:p>
            <a:pPr marL="742950" lvl="1" indent="-285750">
              <a:buFont typeface="Arial" panose="020B0604020202020204" pitchFamily="34" charset="0"/>
              <a:buChar char="•"/>
            </a:pPr>
            <a:r>
              <a:rPr lang="en-US" sz="1400" dirty="0">
                <a:solidFill>
                  <a:schemeClr val="bg1"/>
                </a:solidFill>
              </a:rPr>
              <a:t>Welcome to DonorView 423</a:t>
            </a:r>
          </a:p>
          <a:p>
            <a:pPr marL="742950" lvl="1" indent="-285750">
              <a:buFont typeface="Arial" panose="020B0604020202020204" pitchFamily="34" charset="0"/>
              <a:buChar char="•"/>
            </a:pPr>
            <a:r>
              <a:rPr lang="en-US" sz="1400" dirty="0">
                <a:solidFill>
                  <a:schemeClr val="bg1"/>
                </a:solidFill>
              </a:rPr>
              <a:t>DonorView Demo 156</a:t>
            </a:r>
          </a:p>
          <a:p>
            <a:pPr marL="742950" lvl="1" indent="-285750">
              <a:buFont typeface="Arial" panose="020B0604020202020204" pitchFamily="34" charset="0"/>
              <a:buChar char="•"/>
            </a:pPr>
            <a:r>
              <a:rPr lang="en-US" sz="1400" dirty="0">
                <a:solidFill>
                  <a:schemeClr val="bg1"/>
                </a:solidFill>
              </a:rPr>
              <a:t>Welcome to AssociationSphere 149</a:t>
            </a:r>
          </a:p>
        </p:txBody>
      </p:sp>
    </p:spTree>
    <p:extLst>
      <p:ext uri="{BB962C8B-B14F-4D97-AF65-F5344CB8AC3E}">
        <p14:creationId xmlns:p14="http://schemas.microsoft.com/office/powerpoint/2010/main" val="42913308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59DC4-8B30-98A0-5BAB-C78BA4A4AD55}"/>
              </a:ext>
            </a:extLst>
          </p:cNvPr>
          <p:cNvSpPr>
            <a:spLocks noGrp="1"/>
          </p:cNvSpPr>
          <p:nvPr>
            <p:ph type="title"/>
          </p:nvPr>
        </p:nvSpPr>
        <p:spPr>
          <a:xfrm>
            <a:off x="594360" y="198408"/>
            <a:ext cx="10972800" cy="778745"/>
          </a:xfrm>
        </p:spPr>
        <p:txBody>
          <a:bodyPr/>
          <a:lstStyle/>
          <a:p>
            <a:r>
              <a:rPr lang="en-US" dirty="0"/>
              <a:t>Proposed Training Program Changes</a:t>
            </a:r>
          </a:p>
        </p:txBody>
      </p:sp>
      <p:sp>
        <p:nvSpPr>
          <p:cNvPr id="5" name="Rectangle 4">
            <a:extLst>
              <a:ext uri="{FF2B5EF4-FFF2-40B4-BE49-F238E27FC236}">
                <a16:creationId xmlns:a16="http://schemas.microsoft.com/office/drawing/2014/main" id="{5074C38F-21DD-8D30-5F37-53AA0DF4B784}"/>
              </a:ext>
            </a:extLst>
          </p:cNvPr>
          <p:cNvSpPr/>
          <p:nvPr/>
        </p:nvSpPr>
        <p:spPr>
          <a:xfrm>
            <a:off x="502024" y="1981200"/>
            <a:ext cx="2501152" cy="31376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096FB3A-B62C-3DAB-4FD1-B4EBDD650AEF}"/>
              </a:ext>
            </a:extLst>
          </p:cNvPr>
          <p:cNvSpPr>
            <a:spLocks noGrp="1"/>
          </p:cNvSpPr>
          <p:nvPr>
            <p:ph sz="quarter" idx="13"/>
          </p:nvPr>
        </p:nvSpPr>
        <p:spPr>
          <a:xfrm>
            <a:off x="1066800" y="1251135"/>
            <a:ext cx="9185240" cy="4960221"/>
          </a:xfrm>
        </p:spPr>
        <p:txBody>
          <a:bodyPr>
            <a:noAutofit/>
          </a:bodyPr>
          <a:lstStyle/>
          <a:p>
            <a:pPr>
              <a:lnSpc>
                <a:spcPct val="100000"/>
              </a:lnSpc>
              <a:spcBef>
                <a:spcPts val="600"/>
              </a:spcBef>
            </a:pPr>
            <a:r>
              <a:rPr lang="en-US" sz="1200" b="1" dirty="0"/>
              <a:t>Eliminate Weekly Webinars</a:t>
            </a:r>
          </a:p>
          <a:p>
            <a:pPr marL="1028700" lvl="1" indent="-342900">
              <a:lnSpc>
                <a:spcPct val="100000"/>
              </a:lnSpc>
            </a:pPr>
            <a:r>
              <a:rPr lang="en-US" sz="1200" dirty="0"/>
              <a:t>Replace with learning flow path through LMS</a:t>
            </a:r>
          </a:p>
          <a:p>
            <a:pPr marL="1028700" lvl="1" indent="-342900">
              <a:lnSpc>
                <a:spcPct val="100000"/>
              </a:lnSpc>
            </a:pPr>
            <a:r>
              <a:rPr lang="en-US" sz="1200" dirty="0"/>
              <a:t>Frees up approximately 12 hours per week of training/support personnel time</a:t>
            </a:r>
          </a:p>
          <a:p>
            <a:pPr marL="1028700" lvl="1" indent="-342900">
              <a:lnSpc>
                <a:spcPct val="100000"/>
              </a:lnSpc>
            </a:pPr>
            <a:r>
              <a:rPr lang="en-US" sz="1200" dirty="0"/>
              <a:t>No longer need Zoom Events, could downgrade to Zoom Webinars for single account saving approximately $2,500 per year</a:t>
            </a:r>
          </a:p>
          <a:p>
            <a:pPr>
              <a:lnSpc>
                <a:spcPct val="100000"/>
              </a:lnSpc>
              <a:spcBef>
                <a:spcPts val="600"/>
              </a:spcBef>
            </a:pPr>
            <a:r>
              <a:rPr lang="en-US" sz="1200" b="1" dirty="0"/>
              <a:t>Eliminate 1</a:t>
            </a:r>
            <a:r>
              <a:rPr lang="en-US" sz="1200" b="1" baseline="30000" dirty="0"/>
              <a:t>st</a:t>
            </a:r>
            <a:r>
              <a:rPr lang="en-US" sz="1200" b="1" dirty="0"/>
              <a:t> Initial Training</a:t>
            </a:r>
          </a:p>
          <a:p>
            <a:pPr marL="1028700" lvl="1" indent="-342900">
              <a:lnSpc>
                <a:spcPct val="100000"/>
              </a:lnSpc>
            </a:pPr>
            <a:r>
              <a:rPr lang="en-US" sz="1200" dirty="0"/>
              <a:t>Replace with learning flow path through LMS</a:t>
            </a:r>
          </a:p>
          <a:p>
            <a:pPr marL="1028700" lvl="1" indent="-342900">
              <a:lnSpc>
                <a:spcPct val="100000"/>
              </a:lnSpc>
            </a:pPr>
            <a:r>
              <a:rPr lang="en-US" sz="1200" dirty="0"/>
              <a:t>Once minimum required training is satisfactorily completed, an optional one-on-one training session could be offered/included in contract or sold a la carte</a:t>
            </a:r>
          </a:p>
          <a:p>
            <a:pPr marL="1028700" lvl="1" indent="-342900">
              <a:lnSpc>
                <a:spcPct val="100000"/>
              </a:lnSpc>
            </a:pPr>
            <a:r>
              <a:rPr lang="en-US" sz="1200" dirty="0"/>
              <a:t>Frees up approximately 6 hours per week of training personnel time</a:t>
            </a:r>
          </a:p>
          <a:p>
            <a:pPr marL="0" lvl="1" indent="0">
              <a:lnSpc>
                <a:spcPct val="100000"/>
              </a:lnSpc>
              <a:buNone/>
            </a:pPr>
            <a:r>
              <a:rPr lang="en-US" sz="1200" b="1" dirty="0"/>
              <a:t>Offer access to LMS similar to other promotions</a:t>
            </a:r>
          </a:p>
          <a:p>
            <a:pPr marL="1030288" lvl="2" indent="-342900">
              <a:lnSpc>
                <a:spcPct val="100000"/>
              </a:lnSpc>
              <a:spcBef>
                <a:spcPts val="600"/>
              </a:spcBef>
            </a:pPr>
            <a:r>
              <a:rPr lang="en-US" sz="1200" dirty="0"/>
              <a:t>1</a:t>
            </a:r>
            <a:r>
              <a:rPr lang="en-US" sz="1200" baseline="30000" dirty="0"/>
              <a:t>st</a:t>
            </a:r>
            <a:r>
              <a:rPr lang="en-US" sz="1200" dirty="0"/>
              <a:t> 90 days is free for everyone in organization, then fee-based for additional quarters (90-day access) </a:t>
            </a:r>
          </a:p>
          <a:p>
            <a:pPr marL="1030288" lvl="2" indent="-342900">
              <a:lnSpc>
                <a:spcPct val="100000"/>
              </a:lnSpc>
              <a:spcBef>
                <a:spcPts val="600"/>
              </a:spcBef>
            </a:pPr>
            <a:r>
              <a:rPr lang="en-US" sz="1200" dirty="0"/>
              <a:t>Or maybe tiers - an annual access price or quick start 90-day price</a:t>
            </a:r>
          </a:p>
          <a:p>
            <a:pPr marL="1030288" lvl="2" indent="-342900">
              <a:lnSpc>
                <a:spcPct val="100000"/>
              </a:lnSpc>
              <a:spcBef>
                <a:spcPts val="600"/>
              </a:spcBef>
            </a:pPr>
            <a:r>
              <a:rPr lang="en-US" sz="1200" dirty="0"/>
              <a:t>After training is complete and LMS access is removed, return to videos &amp; support articles like Basic Support is now</a:t>
            </a:r>
          </a:p>
          <a:p>
            <a:pPr marL="1030288" lvl="2" indent="-342900">
              <a:lnSpc>
                <a:spcPct val="100000"/>
              </a:lnSpc>
              <a:spcBef>
                <a:spcPts val="600"/>
              </a:spcBef>
            </a:pPr>
            <a:r>
              <a:rPr lang="en-US" sz="1200" dirty="0"/>
              <a:t>Include an employee turnover clause to allow new employees to go through 90 days of training at no cost</a:t>
            </a:r>
          </a:p>
          <a:p>
            <a:pPr marL="0" lvl="1" indent="0">
              <a:lnSpc>
                <a:spcPct val="100000"/>
              </a:lnSpc>
              <a:buNone/>
            </a:pPr>
            <a:r>
              <a:rPr lang="en-US" sz="1200" b="1" dirty="0"/>
              <a:t>Update Video Library</a:t>
            </a:r>
          </a:p>
          <a:p>
            <a:pPr marL="1030288" lvl="2" indent="-339725">
              <a:lnSpc>
                <a:spcPct val="100000"/>
              </a:lnSpc>
              <a:spcBef>
                <a:spcPts val="600"/>
              </a:spcBef>
            </a:pPr>
            <a:r>
              <a:rPr lang="en-US" sz="1200" dirty="0"/>
              <a:t>Utilize chapters when creating videos to coincide with shorter, micro-learning features of LMS</a:t>
            </a:r>
          </a:p>
          <a:p>
            <a:pPr marL="1030288" lvl="2" indent="-339725">
              <a:lnSpc>
                <a:spcPct val="100000"/>
              </a:lnSpc>
              <a:spcBef>
                <a:spcPts val="600"/>
              </a:spcBef>
            </a:pPr>
            <a:r>
              <a:rPr lang="en-US" sz="1200" dirty="0"/>
              <a:t>Will make editing and updating video content easier</a:t>
            </a:r>
          </a:p>
          <a:p>
            <a:pPr marL="1030288" lvl="2" indent="-339725">
              <a:lnSpc>
                <a:spcPct val="100000"/>
              </a:lnSpc>
              <a:spcBef>
                <a:spcPts val="600"/>
              </a:spcBef>
            </a:pPr>
            <a:r>
              <a:rPr lang="en-US" sz="1200" dirty="0"/>
              <a:t>With all but one platform reviewed, videos must be created and edited in another platform like Camtasia or Clip Champ</a:t>
            </a:r>
          </a:p>
          <a:p>
            <a:pPr marL="1030288" lvl="2" indent="-339725">
              <a:lnSpc>
                <a:spcPct val="100000"/>
              </a:lnSpc>
              <a:spcBef>
                <a:spcPts val="600"/>
              </a:spcBef>
            </a:pPr>
            <a:r>
              <a:rPr lang="en-US" sz="1200" dirty="0"/>
              <a:t>Could consider moving entire support articles and video library content to LMS and expect increased user access (from 100 to ~300/month)</a:t>
            </a:r>
          </a:p>
        </p:txBody>
      </p:sp>
    </p:spTree>
    <p:extLst>
      <p:ext uri="{BB962C8B-B14F-4D97-AF65-F5344CB8AC3E}">
        <p14:creationId xmlns:p14="http://schemas.microsoft.com/office/powerpoint/2010/main" val="18507688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3F2A7-FEEC-6F74-7F4E-46388345558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0D8E8A9-377D-BD5E-FC3C-F6FFDECB9AD5}"/>
              </a:ext>
            </a:extLst>
          </p:cNvPr>
          <p:cNvSpPr>
            <a:spLocks noGrp="1"/>
          </p:cNvSpPr>
          <p:nvPr>
            <p:ph type="title"/>
          </p:nvPr>
        </p:nvSpPr>
        <p:spPr>
          <a:xfrm>
            <a:off x="548802" y="224118"/>
            <a:ext cx="10873740" cy="668496"/>
          </a:xfrm>
        </p:spPr>
        <p:txBody>
          <a:bodyPr/>
          <a:lstStyle/>
          <a:p>
            <a:r>
              <a:rPr lang="en-US" sz="3600" dirty="0"/>
              <a:t>Summary of LMS Provider Reviews</a:t>
            </a:r>
          </a:p>
        </p:txBody>
      </p:sp>
      <p:grpSp>
        <p:nvGrpSpPr>
          <p:cNvPr id="19" name="Group 18">
            <a:extLst>
              <a:ext uri="{FF2B5EF4-FFF2-40B4-BE49-F238E27FC236}">
                <a16:creationId xmlns:a16="http://schemas.microsoft.com/office/drawing/2014/main" id="{894373F8-210E-BB5D-E472-0E0DCACE3871}"/>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6B4C3F82-1F00-355B-DA1A-3EAEAEFB2C5D}"/>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19E21ECE-A71C-05BA-842D-FEE03954FCFA}"/>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904620FD-EEF8-424B-2A7C-A1BCB0B3DF6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4" name="Rectangle 3">
            <a:extLst>
              <a:ext uri="{FF2B5EF4-FFF2-40B4-BE49-F238E27FC236}">
                <a16:creationId xmlns:a16="http://schemas.microsoft.com/office/drawing/2014/main" id="{AEA9057E-1127-1832-2760-99A824DD8CFB}"/>
              </a:ext>
            </a:extLst>
          </p:cNvPr>
          <p:cNvSpPr/>
          <p:nvPr/>
        </p:nvSpPr>
        <p:spPr>
          <a:xfrm>
            <a:off x="548802" y="1832261"/>
            <a:ext cx="2291675" cy="54952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Table 5">
            <a:extLst>
              <a:ext uri="{FF2B5EF4-FFF2-40B4-BE49-F238E27FC236}">
                <a16:creationId xmlns:a16="http://schemas.microsoft.com/office/drawing/2014/main" id="{FB4BBC92-E908-939A-FEED-457396E1BFC1}"/>
              </a:ext>
            </a:extLst>
          </p:cNvPr>
          <p:cNvGraphicFramePr>
            <a:graphicFrameLocks noGrp="1"/>
          </p:cNvGraphicFramePr>
          <p:nvPr>
            <p:extLst>
              <p:ext uri="{D42A27DB-BD31-4B8C-83A1-F6EECF244321}">
                <p14:modId xmlns:p14="http://schemas.microsoft.com/office/powerpoint/2010/main" val="2182994554"/>
              </p:ext>
            </p:extLst>
          </p:nvPr>
        </p:nvGraphicFramePr>
        <p:xfrm>
          <a:off x="968354" y="1129554"/>
          <a:ext cx="9744470" cy="1665193"/>
        </p:xfrm>
        <a:graphic>
          <a:graphicData uri="http://schemas.openxmlformats.org/drawingml/2006/table">
            <a:tbl>
              <a:tblPr>
                <a:tableStyleId>{8A107856-5554-42FB-B03E-39F5DBC370BA}</a:tableStyleId>
              </a:tblPr>
              <a:tblGrid>
                <a:gridCol w="3017641">
                  <a:extLst>
                    <a:ext uri="{9D8B030D-6E8A-4147-A177-3AD203B41FA5}">
                      <a16:colId xmlns:a16="http://schemas.microsoft.com/office/drawing/2014/main" val="1870186936"/>
                    </a:ext>
                  </a:extLst>
                </a:gridCol>
                <a:gridCol w="1345366">
                  <a:extLst>
                    <a:ext uri="{9D8B030D-6E8A-4147-A177-3AD203B41FA5}">
                      <a16:colId xmlns:a16="http://schemas.microsoft.com/office/drawing/2014/main" val="1541542756"/>
                    </a:ext>
                  </a:extLst>
                </a:gridCol>
                <a:gridCol w="1345366">
                  <a:extLst>
                    <a:ext uri="{9D8B030D-6E8A-4147-A177-3AD203B41FA5}">
                      <a16:colId xmlns:a16="http://schemas.microsoft.com/office/drawing/2014/main" val="2476287771"/>
                    </a:ext>
                  </a:extLst>
                </a:gridCol>
                <a:gridCol w="1345366">
                  <a:extLst>
                    <a:ext uri="{9D8B030D-6E8A-4147-A177-3AD203B41FA5}">
                      <a16:colId xmlns:a16="http://schemas.microsoft.com/office/drawing/2014/main" val="2775794114"/>
                    </a:ext>
                  </a:extLst>
                </a:gridCol>
                <a:gridCol w="1354989">
                  <a:extLst>
                    <a:ext uri="{9D8B030D-6E8A-4147-A177-3AD203B41FA5}">
                      <a16:colId xmlns:a16="http://schemas.microsoft.com/office/drawing/2014/main" val="581924171"/>
                    </a:ext>
                  </a:extLst>
                </a:gridCol>
                <a:gridCol w="1335742">
                  <a:extLst>
                    <a:ext uri="{9D8B030D-6E8A-4147-A177-3AD203B41FA5}">
                      <a16:colId xmlns:a16="http://schemas.microsoft.com/office/drawing/2014/main" val="543145493"/>
                    </a:ext>
                  </a:extLst>
                </a:gridCol>
              </a:tblGrid>
              <a:tr h="647575">
                <a:tc>
                  <a:txBody>
                    <a:bodyPr/>
                    <a:lstStyle/>
                    <a:p>
                      <a:pPr algn="ctr" fontAlgn="b">
                        <a:buNone/>
                      </a:pPr>
                      <a:r>
                        <a:rPr lang="en-US" sz="1100" u="none" strike="noStrike" dirty="0">
                          <a:effectLst/>
                        </a:rPr>
                        <a:t> </a:t>
                      </a:r>
                      <a:endParaRPr lang="en-US" sz="1100" b="0" i="0" u="none" strike="noStrike" dirty="0">
                        <a:solidFill>
                          <a:srgbClr val="474747"/>
                        </a:solidFill>
                        <a:effectLst/>
                        <a:latin typeface="Open Sans" panose="020B0606030504020204" pitchFamily="34" charset="0"/>
                      </a:endParaRPr>
                    </a:p>
                  </a:txBody>
                  <a:tcPr marL="9525" marR="9525" marT="9525" marB="0" anchor="b"/>
                </a:tc>
                <a:tc>
                  <a:txBody>
                    <a:bodyPr/>
                    <a:lstStyle/>
                    <a:p>
                      <a:pPr algn="ctr" fontAlgn="ctr">
                        <a:buNone/>
                      </a:pPr>
                      <a:r>
                        <a:rPr lang="en-US" sz="1600" u="none" strike="noStrike" dirty="0">
                          <a:effectLst/>
                        </a:rPr>
                        <a:t>iSpring</a:t>
                      </a:r>
                      <a:endParaRPr lang="en-US" sz="1600" b="1" i="0" u="none" strike="noStrike" dirty="0">
                        <a:solidFill>
                          <a:srgbClr val="3952B0"/>
                        </a:solidFill>
                        <a:effectLst/>
                        <a:latin typeface="Open Sans" panose="020B0606030504020204" pitchFamily="34" charset="0"/>
                      </a:endParaRPr>
                    </a:p>
                  </a:txBody>
                  <a:tcPr marL="9525" marR="9525" marT="9525" marB="0" anchor="ctr"/>
                </a:tc>
                <a:tc>
                  <a:txBody>
                    <a:bodyPr/>
                    <a:lstStyle/>
                    <a:p>
                      <a:pPr algn="ctr" fontAlgn="ctr">
                        <a:buNone/>
                      </a:pPr>
                      <a:r>
                        <a:rPr lang="en-US" sz="1600" u="none" strike="noStrike" dirty="0">
                          <a:effectLst/>
                        </a:rPr>
                        <a:t>Litmos</a:t>
                      </a:r>
                      <a:endParaRPr lang="en-US" sz="1600" b="1" i="0" u="none" strike="noStrike" dirty="0">
                        <a:solidFill>
                          <a:srgbClr val="3952B0"/>
                        </a:solidFill>
                        <a:effectLst/>
                        <a:latin typeface="Open Sans" panose="020B0606030504020204" pitchFamily="34" charset="0"/>
                      </a:endParaRPr>
                    </a:p>
                  </a:txBody>
                  <a:tcPr marL="9525" marR="9525" marT="9525" marB="0" anchor="ctr">
                    <a:solidFill>
                      <a:schemeClr val="tx2">
                        <a:lumMod val="10000"/>
                        <a:lumOff val="90000"/>
                      </a:schemeClr>
                    </a:solidFill>
                  </a:tcPr>
                </a:tc>
                <a:tc>
                  <a:txBody>
                    <a:bodyPr/>
                    <a:lstStyle/>
                    <a:p>
                      <a:pPr algn="ctr" fontAlgn="ctr">
                        <a:buNone/>
                      </a:pPr>
                      <a:r>
                        <a:rPr lang="en-US" sz="1600" u="none" strike="noStrike" dirty="0">
                          <a:effectLst/>
                        </a:rPr>
                        <a:t>Absorb</a:t>
                      </a:r>
                      <a:endParaRPr lang="en-US" sz="1600" b="1" i="0" u="none" strike="noStrike" dirty="0">
                        <a:solidFill>
                          <a:srgbClr val="3952B0"/>
                        </a:solidFill>
                        <a:effectLst/>
                        <a:latin typeface="Open Sans" panose="020B0606030504020204" pitchFamily="34" charset="0"/>
                      </a:endParaRPr>
                    </a:p>
                  </a:txBody>
                  <a:tcPr marL="9525" marR="9525" marT="9525" marB="0" anchor="ctr"/>
                </a:tc>
                <a:tc>
                  <a:txBody>
                    <a:bodyPr/>
                    <a:lstStyle/>
                    <a:p>
                      <a:pPr algn="ctr" fontAlgn="ctr">
                        <a:buNone/>
                      </a:pPr>
                      <a:r>
                        <a:rPr lang="en-US" sz="1600" u="none" strike="noStrike" dirty="0">
                          <a:effectLst/>
                        </a:rPr>
                        <a:t>Docebo</a:t>
                      </a:r>
                      <a:endParaRPr lang="en-US" sz="1600" b="1" i="0" u="none" strike="noStrike" dirty="0">
                        <a:solidFill>
                          <a:srgbClr val="3952B0"/>
                        </a:solidFill>
                        <a:effectLst/>
                        <a:latin typeface="Open Sans" panose="020B0606030504020204" pitchFamily="34" charset="0"/>
                      </a:endParaRPr>
                    </a:p>
                  </a:txBody>
                  <a:tcPr marL="9525" marR="9525" marT="9525" marB="0" anchor="ctr">
                    <a:solidFill>
                      <a:schemeClr val="bg1">
                        <a:lumMod val="10000"/>
                        <a:lumOff val="90000"/>
                      </a:schemeClr>
                    </a:solidFill>
                  </a:tcPr>
                </a:tc>
                <a:tc>
                  <a:txBody>
                    <a:bodyPr/>
                    <a:lstStyle/>
                    <a:p>
                      <a:pPr algn="ctr" fontAlgn="ctr">
                        <a:buNone/>
                      </a:pPr>
                      <a:r>
                        <a:rPr lang="en-US" sz="1600" u="none" strike="noStrike">
                          <a:effectLst/>
                        </a:rPr>
                        <a:t>Thinkific</a:t>
                      </a:r>
                      <a:endParaRPr lang="en-US" sz="1600" b="1" i="0" u="none" strike="noStrike">
                        <a:solidFill>
                          <a:srgbClr val="3952B0"/>
                        </a:solidFill>
                        <a:effectLst/>
                        <a:latin typeface="Open Sans" panose="020B0606030504020204" pitchFamily="34" charset="0"/>
                      </a:endParaRPr>
                    </a:p>
                  </a:txBody>
                  <a:tcPr marL="9525" marR="9525" marT="9525" marB="0" anchor="ctr"/>
                </a:tc>
                <a:extLst>
                  <a:ext uri="{0D108BD9-81ED-4DB2-BD59-A6C34878D82A}">
                    <a16:rowId xmlns:a16="http://schemas.microsoft.com/office/drawing/2014/main" val="3557432672"/>
                  </a:ext>
                </a:extLst>
              </a:tr>
              <a:tr h="508809">
                <a:tc>
                  <a:txBody>
                    <a:bodyPr/>
                    <a:lstStyle/>
                    <a:p>
                      <a:pPr algn="r" fontAlgn="ctr">
                        <a:buNone/>
                      </a:pPr>
                      <a:r>
                        <a:rPr lang="en-US" sz="1600" u="none" strike="noStrike" dirty="0">
                          <a:effectLst/>
                        </a:rPr>
                        <a:t>Total "Must Haves" Score</a:t>
                      </a:r>
                      <a:endParaRPr lang="en-US" sz="1600" b="0" i="0" u="none" strike="noStrike" dirty="0">
                        <a:solidFill>
                          <a:srgbClr val="474747"/>
                        </a:solidFill>
                        <a:effectLst/>
                        <a:latin typeface="Open Sans" panose="020B0606030504020204" pitchFamily="34" charset="0"/>
                      </a:endParaRPr>
                    </a:p>
                  </a:txBody>
                  <a:tcPr marL="9525" marR="9525" marT="9525" marB="0" anchor="ctr"/>
                </a:tc>
                <a:tc>
                  <a:txBody>
                    <a:bodyPr/>
                    <a:lstStyle/>
                    <a:p>
                      <a:pPr algn="ctr" fontAlgn="ctr">
                        <a:buNone/>
                      </a:pPr>
                      <a:r>
                        <a:rPr lang="en-US" sz="1600" u="none" strike="noStrike">
                          <a:effectLst/>
                        </a:rPr>
                        <a:t>127</a:t>
                      </a:r>
                      <a:endParaRPr lang="en-US" sz="1600" b="0" i="0" u="none" strike="noStrike">
                        <a:solidFill>
                          <a:srgbClr val="474747"/>
                        </a:solidFill>
                        <a:effectLst/>
                        <a:latin typeface="Open Sans" panose="020B0606030504020204" pitchFamily="34" charset="0"/>
                      </a:endParaRPr>
                    </a:p>
                  </a:txBody>
                  <a:tcPr marL="9525" marR="9525" marT="9525" marB="0" anchor="ctr"/>
                </a:tc>
                <a:tc>
                  <a:txBody>
                    <a:bodyPr/>
                    <a:lstStyle/>
                    <a:p>
                      <a:pPr algn="ctr" fontAlgn="ctr">
                        <a:buNone/>
                      </a:pPr>
                      <a:r>
                        <a:rPr lang="en-US" sz="1600" u="none" strike="noStrike" dirty="0">
                          <a:effectLst/>
                        </a:rPr>
                        <a:t>139</a:t>
                      </a:r>
                      <a:endParaRPr lang="en-US" sz="1600" b="0" i="0" u="none" strike="noStrike" dirty="0">
                        <a:solidFill>
                          <a:srgbClr val="474747"/>
                        </a:solidFill>
                        <a:effectLst/>
                        <a:latin typeface="Open Sans" panose="020B0606030504020204" pitchFamily="34" charset="0"/>
                      </a:endParaRPr>
                    </a:p>
                  </a:txBody>
                  <a:tcPr marL="9525" marR="9525" marT="9525" marB="0" anchor="ctr">
                    <a:solidFill>
                      <a:schemeClr val="tx2">
                        <a:lumMod val="10000"/>
                        <a:lumOff val="90000"/>
                      </a:schemeClr>
                    </a:solidFill>
                  </a:tcPr>
                </a:tc>
                <a:tc>
                  <a:txBody>
                    <a:bodyPr/>
                    <a:lstStyle/>
                    <a:p>
                      <a:pPr algn="ctr" fontAlgn="ctr">
                        <a:buNone/>
                      </a:pPr>
                      <a:r>
                        <a:rPr lang="en-US" sz="1600" u="none" strike="noStrike">
                          <a:effectLst/>
                        </a:rPr>
                        <a:t>129</a:t>
                      </a:r>
                      <a:endParaRPr lang="en-US" sz="1600" b="0" i="0" u="none" strike="noStrike">
                        <a:solidFill>
                          <a:srgbClr val="474747"/>
                        </a:solidFill>
                        <a:effectLst/>
                        <a:latin typeface="Open Sans" panose="020B0606030504020204" pitchFamily="34" charset="0"/>
                      </a:endParaRPr>
                    </a:p>
                  </a:txBody>
                  <a:tcPr marL="9525" marR="9525" marT="9525" marB="0" anchor="ctr"/>
                </a:tc>
                <a:tc>
                  <a:txBody>
                    <a:bodyPr/>
                    <a:lstStyle/>
                    <a:p>
                      <a:pPr algn="ctr" fontAlgn="ctr">
                        <a:buNone/>
                      </a:pPr>
                      <a:r>
                        <a:rPr lang="en-US" sz="1600" u="none" strike="noStrike" dirty="0">
                          <a:effectLst/>
                        </a:rPr>
                        <a:t>140</a:t>
                      </a:r>
                      <a:endParaRPr lang="en-US" sz="1600" b="0" i="0" u="none" strike="noStrike" dirty="0">
                        <a:solidFill>
                          <a:srgbClr val="474747"/>
                        </a:solidFill>
                        <a:effectLst/>
                        <a:latin typeface="Open Sans" panose="020B0606030504020204" pitchFamily="34" charset="0"/>
                      </a:endParaRPr>
                    </a:p>
                  </a:txBody>
                  <a:tcPr marL="9525" marR="9525" marT="9525" marB="0" anchor="ctr">
                    <a:solidFill>
                      <a:schemeClr val="bg1">
                        <a:lumMod val="10000"/>
                        <a:lumOff val="90000"/>
                      </a:schemeClr>
                    </a:solidFill>
                  </a:tcPr>
                </a:tc>
                <a:tc>
                  <a:txBody>
                    <a:bodyPr/>
                    <a:lstStyle/>
                    <a:p>
                      <a:pPr algn="ctr" fontAlgn="ctr">
                        <a:buNone/>
                      </a:pPr>
                      <a:r>
                        <a:rPr lang="en-US" sz="1600" u="none" strike="noStrike" dirty="0">
                          <a:effectLst/>
                        </a:rPr>
                        <a:t>127</a:t>
                      </a:r>
                      <a:endParaRPr lang="en-US" sz="1600" b="0" i="0" u="none" strike="noStrike" dirty="0">
                        <a:solidFill>
                          <a:srgbClr val="474747"/>
                        </a:solidFill>
                        <a:effectLst/>
                        <a:latin typeface="Open Sans" panose="020B0606030504020204" pitchFamily="34" charset="0"/>
                      </a:endParaRPr>
                    </a:p>
                  </a:txBody>
                  <a:tcPr marL="9525" marR="9525" marT="9525" marB="0" anchor="ctr"/>
                </a:tc>
                <a:extLst>
                  <a:ext uri="{0D108BD9-81ED-4DB2-BD59-A6C34878D82A}">
                    <a16:rowId xmlns:a16="http://schemas.microsoft.com/office/drawing/2014/main" val="2737822571"/>
                  </a:ext>
                </a:extLst>
              </a:tr>
              <a:tr h="508809">
                <a:tc>
                  <a:txBody>
                    <a:bodyPr/>
                    <a:lstStyle/>
                    <a:p>
                      <a:pPr algn="r" fontAlgn="ctr">
                        <a:buNone/>
                      </a:pPr>
                      <a:r>
                        <a:rPr lang="en-US" sz="1600" u="none" strike="noStrike" dirty="0">
                          <a:effectLst/>
                        </a:rPr>
                        <a:t>Total Overall Score</a:t>
                      </a:r>
                      <a:endParaRPr lang="en-US" sz="1600" b="0" i="0" u="none" strike="noStrike" dirty="0">
                        <a:solidFill>
                          <a:srgbClr val="474747"/>
                        </a:solidFill>
                        <a:effectLst/>
                        <a:latin typeface="Open Sans" panose="020B0606030504020204" pitchFamily="34" charset="0"/>
                      </a:endParaRPr>
                    </a:p>
                  </a:txBody>
                  <a:tcPr marL="9525" marR="9525" marT="9525" marB="0" anchor="ctr"/>
                </a:tc>
                <a:tc>
                  <a:txBody>
                    <a:bodyPr/>
                    <a:lstStyle/>
                    <a:p>
                      <a:pPr algn="ctr" fontAlgn="ctr">
                        <a:buNone/>
                      </a:pPr>
                      <a:r>
                        <a:rPr lang="en-US" sz="1600" u="none" strike="noStrike">
                          <a:effectLst/>
                        </a:rPr>
                        <a:t>385</a:t>
                      </a:r>
                      <a:endParaRPr lang="en-US" sz="1600" b="0" i="0" u="none" strike="noStrike">
                        <a:solidFill>
                          <a:srgbClr val="474747"/>
                        </a:solidFill>
                        <a:effectLst/>
                        <a:latin typeface="Open Sans" panose="020B0606030504020204" pitchFamily="34" charset="0"/>
                      </a:endParaRPr>
                    </a:p>
                  </a:txBody>
                  <a:tcPr marL="9525" marR="9525" marT="9525" marB="0" anchor="ctr"/>
                </a:tc>
                <a:tc>
                  <a:txBody>
                    <a:bodyPr/>
                    <a:lstStyle/>
                    <a:p>
                      <a:pPr algn="ctr" fontAlgn="ctr">
                        <a:buNone/>
                      </a:pPr>
                      <a:r>
                        <a:rPr lang="en-US" sz="1600" u="none" strike="noStrike" dirty="0">
                          <a:effectLst/>
                        </a:rPr>
                        <a:t>410</a:t>
                      </a:r>
                      <a:endParaRPr lang="en-US" sz="1600" b="0" i="0" u="none" strike="noStrike" dirty="0">
                        <a:solidFill>
                          <a:srgbClr val="474747"/>
                        </a:solidFill>
                        <a:effectLst/>
                        <a:latin typeface="Open Sans" panose="020B0606030504020204" pitchFamily="34" charset="0"/>
                      </a:endParaRPr>
                    </a:p>
                  </a:txBody>
                  <a:tcPr marL="9525" marR="9525" marT="9525" marB="0" anchor="ctr">
                    <a:solidFill>
                      <a:schemeClr val="tx2">
                        <a:lumMod val="10000"/>
                        <a:lumOff val="90000"/>
                      </a:schemeClr>
                    </a:solidFill>
                  </a:tcPr>
                </a:tc>
                <a:tc>
                  <a:txBody>
                    <a:bodyPr/>
                    <a:lstStyle/>
                    <a:p>
                      <a:pPr algn="ctr" fontAlgn="ctr">
                        <a:buNone/>
                      </a:pPr>
                      <a:r>
                        <a:rPr lang="en-US" sz="1600" u="none" strike="noStrike">
                          <a:effectLst/>
                        </a:rPr>
                        <a:t>389</a:t>
                      </a:r>
                      <a:endParaRPr lang="en-US" sz="1600" b="0" i="0" u="none" strike="noStrike">
                        <a:solidFill>
                          <a:srgbClr val="474747"/>
                        </a:solidFill>
                        <a:effectLst/>
                        <a:latin typeface="Open Sans" panose="020B0606030504020204" pitchFamily="34" charset="0"/>
                      </a:endParaRPr>
                    </a:p>
                  </a:txBody>
                  <a:tcPr marL="9525" marR="9525" marT="9525" marB="0" anchor="ctr"/>
                </a:tc>
                <a:tc>
                  <a:txBody>
                    <a:bodyPr/>
                    <a:lstStyle/>
                    <a:p>
                      <a:pPr algn="ctr" fontAlgn="ctr">
                        <a:buNone/>
                      </a:pPr>
                      <a:r>
                        <a:rPr lang="en-US" sz="1600" u="none" strike="noStrike" dirty="0">
                          <a:effectLst/>
                        </a:rPr>
                        <a:t>442</a:t>
                      </a:r>
                      <a:endParaRPr lang="en-US" sz="1600" b="0" i="0" u="none" strike="noStrike" dirty="0">
                        <a:solidFill>
                          <a:srgbClr val="474747"/>
                        </a:solidFill>
                        <a:effectLst/>
                        <a:latin typeface="Open Sans" panose="020B0606030504020204" pitchFamily="34" charset="0"/>
                      </a:endParaRPr>
                    </a:p>
                  </a:txBody>
                  <a:tcPr marL="9525" marR="9525" marT="9525" marB="0" anchor="ctr">
                    <a:solidFill>
                      <a:schemeClr val="bg1">
                        <a:lumMod val="10000"/>
                        <a:lumOff val="90000"/>
                      </a:schemeClr>
                    </a:solidFill>
                  </a:tcPr>
                </a:tc>
                <a:tc>
                  <a:txBody>
                    <a:bodyPr/>
                    <a:lstStyle/>
                    <a:p>
                      <a:pPr algn="ctr" fontAlgn="ctr">
                        <a:buNone/>
                      </a:pPr>
                      <a:r>
                        <a:rPr lang="en-US" sz="1600" u="none" strike="noStrike" dirty="0">
                          <a:effectLst/>
                        </a:rPr>
                        <a:t>375</a:t>
                      </a:r>
                      <a:endParaRPr lang="en-US" sz="1600" b="0" i="0" u="none" strike="noStrike" dirty="0">
                        <a:solidFill>
                          <a:srgbClr val="474747"/>
                        </a:solidFill>
                        <a:effectLst/>
                        <a:latin typeface="Open Sans" panose="020B0606030504020204" pitchFamily="34" charset="0"/>
                      </a:endParaRPr>
                    </a:p>
                  </a:txBody>
                  <a:tcPr marL="9525" marR="9525" marT="9525" marB="0" anchor="ctr"/>
                </a:tc>
                <a:extLst>
                  <a:ext uri="{0D108BD9-81ED-4DB2-BD59-A6C34878D82A}">
                    <a16:rowId xmlns:a16="http://schemas.microsoft.com/office/drawing/2014/main" val="684137037"/>
                  </a:ext>
                </a:extLst>
              </a:tr>
            </a:tbl>
          </a:graphicData>
        </a:graphic>
      </p:graphicFrame>
      <p:sp>
        <p:nvSpPr>
          <p:cNvPr id="9" name="TextBox 8">
            <a:extLst>
              <a:ext uri="{FF2B5EF4-FFF2-40B4-BE49-F238E27FC236}">
                <a16:creationId xmlns:a16="http://schemas.microsoft.com/office/drawing/2014/main" id="{EA43465C-EF95-1768-B14C-BC10C38D9AE8}"/>
              </a:ext>
            </a:extLst>
          </p:cNvPr>
          <p:cNvSpPr txBox="1"/>
          <p:nvPr/>
        </p:nvSpPr>
        <p:spPr>
          <a:xfrm>
            <a:off x="968354" y="3200400"/>
            <a:ext cx="9744470" cy="1631216"/>
          </a:xfrm>
          <a:prstGeom prst="rect">
            <a:avLst/>
          </a:prstGeom>
          <a:noFill/>
        </p:spPr>
        <p:txBody>
          <a:bodyPr wrap="square" rtlCol="0">
            <a:spAutoFit/>
          </a:bodyPr>
          <a:lstStyle/>
          <a:p>
            <a:pPr>
              <a:spcBef>
                <a:spcPts val="600"/>
              </a:spcBef>
            </a:pPr>
            <a:r>
              <a:rPr lang="en-US" dirty="0">
                <a:solidFill>
                  <a:schemeClr val="bg1"/>
                </a:solidFill>
              </a:rPr>
              <a:t>Based on our demos and the capabilities of the platforms, two became clear leaders, Litmos and Docebo. Both meet all our must have priorities and offered new features, like a very robust AI. </a:t>
            </a:r>
          </a:p>
          <a:p>
            <a:pPr marL="285750" indent="-285750">
              <a:spcBef>
                <a:spcPts val="600"/>
              </a:spcBef>
              <a:buFont typeface="Arial" panose="020B0604020202020204" pitchFamily="34" charset="0"/>
              <a:buChar char="•"/>
            </a:pPr>
            <a:r>
              <a:rPr lang="en-US" dirty="0">
                <a:solidFill>
                  <a:schemeClr val="bg1"/>
                </a:solidFill>
              </a:rPr>
              <a:t>The AI capabilities of both platforms allow for extremely fast course building.</a:t>
            </a:r>
          </a:p>
          <a:p>
            <a:pPr marL="285750" indent="-285750">
              <a:spcBef>
                <a:spcPts val="600"/>
              </a:spcBef>
              <a:buFont typeface="Arial" panose="020B0604020202020204" pitchFamily="34" charset="0"/>
              <a:buChar char="•"/>
            </a:pPr>
            <a:r>
              <a:rPr lang="en-US" dirty="0">
                <a:solidFill>
                  <a:schemeClr val="bg1"/>
                </a:solidFill>
              </a:rPr>
              <a:t>The AI also allows for conversational searches for learners and recommendations for courses and learning paths.</a:t>
            </a:r>
          </a:p>
        </p:txBody>
      </p:sp>
    </p:spTree>
    <p:extLst>
      <p:ext uri="{BB962C8B-B14F-4D97-AF65-F5344CB8AC3E}">
        <p14:creationId xmlns:p14="http://schemas.microsoft.com/office/powerpoint/2010/main" val="11065324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DCA02-463C-00E4-FDDB-30901A4B16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710509-88EA-5D29-5103-867EB7B8D5F8}"/>
              </a:ext>
            </a:extLst>
          </p:cNvPr>
          <p:cNvSpPr>
            <a:spLocks noGrp="1"/>
          </p:cNvSpPr>
          <p:nvPr>
            <p:ph type="title"/>
          </p:nvPr>
        </p:nvSpPr>
        <p:spPr>
          <a:xfrm>
            <a:off x="594360" y="198408"/>
            <a:ext cx="10972800" cy="1110439"/>
          </a:xfrm>
        </p:spPr>
        <p:txBody>
          <a:bodyPr/>
          <a:lstStyle/>
          <a:p>
            <a:r>
              <a:rPr lang="en-US" dirty="0"/>
              <a:t>Docebo</a:t>
            </a:r>
          </a:p>
        </p:txBody>
      </p:sp>
      <p:sp>
        <p:nvSpPr>
          <p:cNvPr id="5" name="Rectangle 4">
            <a:extLst>
              <a:ext uri="{FF2B5EF4-FFF2-40B4-BE49-F238E27FC236}">
                <a16:creationId xmlns:a16="http://schemas.microsoft.com/office/drawing/2014/main" id="{A1AA00B8-72BA-121E-7988-19B62CE8DFD5}"/>
              </a:ext>
            </a:extLst>
          </p:cNvPr>
          <p:cNvSpPr/>
          <p:nvPr/>
        </p:nvSpPr>
        <p:spPr>
          <a:xfrm>
            <a:off x="502024" y="1981200"/>
            <a:ext cx="2501152" cy="31376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2CA4CE7-859F-67F4-B438-0061B0C5A3F0}"/>
              </a:ext>
            </a:extLst>
          </p:cNvPr>
          <p:cNvSpPr>
            <a:spLocks noGrp="1"/>
          </p:cNvSpPr>
          <p:nvPr>
            <p:ph sz="quarter" idx="13"/>
          </p:nvPr>
        </p:nvSpPr>
        <p:spPr>
          <a:xfrm>
            <a:off x="624838" y="1524000"/>
            <a:ext cx="9621821" cy="4939553"/>
          </a:xfrm>
        </p:spPr>
        <p:txBody>
          <a:bodyPr>
            <a:normAutofit fontScale="85000" lnSpcReduction="10000"/>
          </a:bodyPr>
          <a:lstStyle/>
          <a:p>
            <a:pPr lvl="0">
              <a:lnSpc>
                <a:spcPct val="100000"/>
              </a:lnSpc>
              <a:spcBef>
                <a:spcPts val="600"/>
              </a:spcBef>
            </a:pPr>
            <a:r>
              <a:rPr lang="en-US" dirty="0"/>
              <a:t>Docebo is what we considered the “Cadillac” of platforms. Its annual price is much higher than Litmos. However, it offers many more features.</a:t>
            </a:r>
          </a:p>
          <a:p>
            <a:pPr lvl="1">
              <a:lnSpc>
                <a:spcPct val="100000"/>
              </a:lnSpc>
            </a:pPr>
            <a:r>
              <a:rPr lang="en-US" dirty="0"/>
              <a:t>Nearly all features in the platform are customizable in a WYSIWYG builder allowing us to customize the home page for each user group.</a:t>
            </a:r>
          </a:p>
          <a:p>
            <a:pPr lvl="1">
              <a:lnSpc>
                <a:spcPct val="100000"/>
              </a:lnSpc>
            </a:pPr>
            <a:r>
              <a:rPr lang="en-US" dirty="0"/>
              <a:t>Their reporting feature is superb, with lots of graphs and charts built in.</a:t>
            </a:r>
          </a:p>
          <a:p>
            <a:pPr lvl="1">
              <a:lnSpc>
                <a:spcPct val="100000"/>
              </a:lnSpc>
            </a:pPr>
            <a:r>
              <a:rPr lang="en-US" dirty="0"/>
              <a:t>Docebo would need to be set up as “ConnectedView” with DV and AS created as two main groups so that each type of learner would only see their applicable content. However, for an additional $5K, you could have two separate </a:t>
            </a:r>
            <a:r>
              <a:rPr lang="en-US"/>
              <a:t>platforms independently branded and nested </a:t>
            </a:r>
            <a:r>
              <a:rPr lang="en-US" dirty="0"/>
              <a:t>under a master CV platform.</a:t>
            </a:r>
          </a:p>
          <a:p>
            <a:pPr lvl="1">
              <a:lnSpc>
                <a:spcPct val="100000"/>
              </a:lnSpc>
            </a:pPr>
            <a:r>
              <a:rPr lang="en-US" dirty="0"/>
              <a:t>Not only can it provide all the basic capabilities we are seeking for training it also provides opportunities to replace Monday for tracking implementation.  </a:t>
            </a:r>
          </a:p>
          <a:p>
            <a:pPr lvl="1">
              <a:lnSpc>
                <a:spcPct val="100000"/>
              </a:lnSpc>
            </a:pPr>
            <a:r>
              <a:rPr lang="en-US" dirty="0"/>
              <a:t>It would be able to manage the entire implementation process allowing the customer and the IM to see what docs have been submitted, what their statuses are, and track time to completion.</a:t>
            </a:r>
          </a:p>
          <a:p>
            <a:pPr lvl="1">
              <a:lnSpc>
                <a:spcPct val="100000"/>
              </a:lnSpc>
            </a:pPr>
            <a:r>
              <a:rPr lang="en-US" dirty="0"/>
              <a:t>Docebo also has an “Ask an Expert” function where customers can ask questions about the materials they are learning directly in the software – no need for a separate support ticket.</a:t>
            </a:r>
          </a:p>
          <a:p>
            <a:pPr lvl="1">
              <a:lnSpc>
                <a:spcPct val="100000"/>
              </a:lnSpc>
            </a:pPr>
            <a:r>
              <a:rPr lang="en-US" dirty="0"/>
              <a:t>Docebo has a superior gamification feature that allows customers (learners) to earn tokens which could be applied to things like personal training or paid course content</a:t>
            </a:r>
            <a:endParaRPr lang="en-US" sz="2800" dirty="0"/>
          </a:p>
        </p:txBody>
      </p:sp>
    </p:spTree>
    <p:extLst>
      <p:ext uri="{BB962C8B-B14F-4D97-AF65-F5344CB8AC3E}">
        <p14:creationId xmlns:p14="http://schemas.microsoft.com/office/powerpoint/2010/main" val="26376336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2E7B5-6BCB-C679-F950-909624561E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774A38-A6CD-517D-8DE4-18F7E97421D1}"/>
              </a:ext>
            </a:extLst>
          </p:cNvPr>
          <p:cNvSpPr>
            <a:spLocks noGrp="1"/>
          </p:cNvSpPr>
          <p:nvPr>
            <p:ph type="title"/>
          </p:nvPr>
        </p:nvSpPr>
        <p:spPr>
          <a:xfrm>
            <a:off x="594360" y="198408"/>
            <a:ext cx="10972800" cy="1110439"/>
          </a:xfrm>
        </p:spPr>
        <p:txBody>
          <a:bodyPr/>
          <a:lstStyle/>
          <a:p>
            <a:r>
              <a:rPr lang="en-US" dirty="0"/>
              <a:t>Litmos</a:t>
            </a:r>
          </a:p>
        </p:txBody>
      </p:sp>
      <p:sp>
        <p:nvSpPr>
          <p:cNvPr id="5" name="Rectangle 4">
            <a:extLst>
              <a:ext uri="{FF2B5EF4-FFF2-40B4-BE49-F238E27FC236}">
                <a16:creationId xmlns:a16="http://schemas.microsoft.com/office/drawing/2014/main" id="{49FCBE87-C986-8816-2DCE-0505BE5AA1EE}"/>
              </a:ext>
            </a:extLst>
          </p:cNvPr>
          <p:cNvSpPr/>
          <p:nvPr/>
        </p:nvSpPr>
        <p:spPr>
          <a:xfrm>
            <a:off x="502024" y="1981200"/>
            <a:ext cx="2501152" cy="31376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52F067B-752E-7C2D-721B-F4C522F89D7A}"/>
              </a:ext>
            </a:extLst>
          </p:cNvPr>
          <p:cNvSpPr>
            <a:spLocks noGrp="1"/>
          </p:cNvSpPr>
          <p:nvPr>
            <p:ph sz="quarter" idx="13"/>
          </p:nvPr>
        </p:nvSpPr>
        <p:spPr>
          <a:xfrm>
            <a:off x="624838" y="1699371"/>
            <a:ext cx="9621821" cy="4764182"/>
          </a:xfrm>
        </p:spPr>
        <p:txBody>
          <a:bodyPr>
            <a:normAutofit/>
          </a:bodyPr>
          <a:lstStyle/>
          <a:p>
            <a:pPr lvl="0"/>
            <a:r>
              <a:rPr lang="en-US" dirty="0"/>
              <a:t>Litmos is our “Honda Civic,” but a top-of-the-line model. </a:t>
            </a:r>
          </a:p>
          <a:p>
            <a:pPr marL="690563" lvl="0" indent="-342900">
              <a:buFont typeface="Arial" panose="020B0604020202020204" pitchFamily="34" charset="0"/>
              <a:buChar char="•"/>
            </a:pPr>
            <a:r>
              <a:rPr lang="en-US" dirty="0"/>
              <a:t>Its initial annual price is one of the lowest we reviewed, and it also offers a robust AI. However, it’s price starts to converge on Docebo with higher monthly users.</a:t>
            </a:r>
          </a:p>
          <a:p>
            <a:pPr lvl="1"/>
            <a:r>
              <a:rPr lang="en-US" dirty="0"/>
              <a:t>Litmos offers everything we were seeking for training and does have some opportunities for tracking implementation activities however it is not as robust as Docebo.</a:t>
            </a:r>
          </a:p>
          <a:p>
            <a:pPr lvl="1"/>
            <a:r>
              <a:rPr lang="en-US" dirty="0"/>
              <a:t>We can track document submissions and other tasks associated with implementation and get some idea for time to completion, but there is no simple checklist viewer.</a:t>
            </a:r>
          </a:p>
          <a:p>
            <a:pPr lvl="1"/>
            <a:r>
              <a:rPr lang="en-US" dirty="0"/>
              <a:t>Like Docebo, we would also create the platform under “ConnectedView” and have two groups for AS and DV. </a:t>
            </a:r>
          </a:p>
        </p:txBody>
      </p:sp>
    </p:spTree>
    <p:extLst>
      <p:ext uri="{BB962C8B-B14F-4D97-AF65-F5344CB8AC3E}">
        <p14:creationId xmlns:p14="http://schemas.microsoft.com/office/powerpoint/2010/main" val="20030077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74005-4881-6440-4F7B-A4FA6C2FAFE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BB7C67B-3E6C-6488-DBA0-E7A238828215}"/>
              </a:ext>
            </a:extLst>
          </p:cNvPr>
          <p:cNvSpPr>
            <a:spLocks noGrp="1"/>
          </p:cNvSpPr>
          <p:nvPr>
            <p:ph type="title"/>
          </p:nvPr>
        </p:nvSpPr>
        <p:spPr>
          <a:xfrm>
            <a:off x="548802" y="224118"/>
            <a:ext cx="10873740" cy="668496"/>
          </a:xfrm>
        </p:spPr>
        <p:txBody>
          <a:bodyPr/>
          <a:lstStyle/>
          <a:p>
            <a:r>
              <a:rPr lang="en-US" sz="3600" dirty="0"/>
              <a:t>Financial Investments</a:t>
            </a:r>
          </a:p>
        </p:txBody>
      </p:sp>
      <p:grpSp>
        <p:nvGrpSpPr>
          <p:cNvPr id="19" name="Group 18">
            <a:extLst>
              <a:ext uri="{FF2B5EF4-FFF2-40B4-BE49-F238E27FC236}">
                <a16:creationId xmlns:a16="http://schemas.microsoft.com/office/drawing/2014/main" id="{06F8AEB0-8E66-6F7F-B0A9-05AA1B1209F7}"/>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85E8782A-1A49-FE7D-F524-F15F0C8A21F8}"/>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DF861F46-7150-79C1-943B-174634AD5E33}"/>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ACAA6FFE-F836-CBF5-7033-3703EE74131C}"/>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4" name="Rectangle 3">
            <a:extLst>
              <a:ext uri="{FF2B5EF4-FFF2-40B4-BE49-F238E27FC236}">
                <a16:creationId xmlns:a16="http://schemas.microsoft.com/office/drawing/2014/main" id="{05A96C2C-8084-7405-5601-C1080D4BAFF6}"/>
              </a:ext>
            </a:extLst>
          </p:cNvPr>
          <p:cNvSpPr/>
          <p:nvPr/>
        </p:nvSpPr>
        <p:spPr>
          <a:xfrm>
            <a:off x="548802" y="1832261"/>
            <a:ext cx="2291675" cy="54952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Table 5">
            <a:extLst>
              <a:ext uri="{FF2B5EF4-FFF2-40B4-BE49-F238E27FC236}">
                <a16:creationId xmlns:a16="http://schemas.microsoft.com/office/drawing/2014/main" id="{23D38BD3-ED0C-5B69-1BD8-5875A2554D4B}"/>
              </a:ext>
            </a:extLst>
          </p:cNvPr>
          <p:cNvGraphicFramePr>
            <a:graphicFrameLocks noGrp="1"/>
          </p:cNvGraphicFramePr>
          <p:nvPr>
            <p:extLst>
              <p:ext uri="{D42A27DB-BD31-4B8C-83A1-F6EECF244321}">
                <p14:modId xmlns:p14="http://schemas.microsoft.com/office/powerpoint/2010/main" val="3226803249"/>
              </p:ext>
            </p:extLst>
          </p:nvPr>
        </p:nvGraphicFramePr>
        <p:xfrm>
          <a:off x="968354" y="1129554"/>
          <a:ext cx="9977552" cy="4685314"/>
        </p:xfrm>
        <a:graphic>
          <a:graphicData uri="http://schemas.openxmlformats.org/drawingml/2006/table">
            <a:tbl>
              <a:tblPr>
                <a:tableStyleId>{8A107856-5554-42FB-B03E-39F5DBC370BA}</a:tableStyleId>
              </a:tblPr>
              <a:tblGrid>
                <a:gridCol w="4231175">
                  <a:extLst>
                    <a:ext uri="{9D8B030D-6E8A-4147-A177-3AD203B41FA5}">
                      <a16:colId xmlns:a16="http://schemas.microsoft.com/office/drawing/2014/main" val="1870186936"/>
                    </a:ext>
                  </a:extLst>
                </a:gridCol>
                <a:gridCol w="2805953">
                  <a:extLst>
                    <a:ext uri="{9D8B030D-6E8A-4147-A177-3AD203B41FA5}">
                      <a16:colId xmlns:a16="http://schemas.microsoft.com/office/drawing/2014/main" val="2476287771"/>
                    </a:ext>
                  </a:extLst>
                </a:gridCol>
                <a:gridCol w="2940424">
                  <a:extLst>
                    <a:ext uri="{9D8B030D-6E8A-4147-A177-3AD203B41FA5}">
                      <a16:colId xmlns:a16="http://schemas.microsoft.com/office/drawing/2014/main" val="581924171"/>
                    </a:ext>
                  </a:extLst>
                </a:gridCol>
              </a:tblGrid>
              <a:tr h="647575">
                <a:tc>
                  <a:txBody>
                    <a:bodyPr/>
                    <a:lstStyle/>
                    <a:p>
                      <a:pPr algn="ctr" fontAlgn="b">
                        <a:buNone/>
                      </a:pPr>
                      <a:r>
                        <a:rPr lang="en-US" sz="1100" u="none" strike="noStrike" dirty="0">
                          <a:effectLst/>
                        </a:rPr>
                        <a:t> </a:t>
                      </a:r>
                      <a:endParaRPr lang="en-US" sz="1100" b="0" i="0" u="none" strike="noStrike" dirty="0">
                        <a:solidFill>
                          <a:srgbClr val="474747"/>
                        </a:solidFill>
                        <a:effectLst/>
                        <a:latin typeface="Open Sans" panose="020B0606030504020204" pitchFamily="34" charset="0"/>
                      </a:endParaRPr>
                    </a:p>
                  </a:txBody>
                  <a:tcPr marL="9525" marR="9525" marT="9525" marB="0" anchor="b">
                    <a:noFill/>
                  </a:tcPr>
                </a:tc>
                <a:tc>
                  <a:txBody>
                    <a:bodyPr/>
                    <a:lstStyle/>
                    <a:p>
                      <a:pPr algn="ctr" fontAlgn="ctr">
                        <a:buNone/>
                      </a:pPr>
                      <a:r>
                        <a:rPr lang="en-US" sz="1600" u="none" strike="noStrike" dirty="0">
                          <a:effectLst/>
                        </a:rPr>
                        <a:t>Litmos</a:t>
                      </a:r>
                      <a:endParaRPr lang="en-US" sz="1600" b="1" i="0" u="none" strike="noStrike" dirty="0">
                        <a:solidFill>
                          <a:srgbClr val="3952B0"/>
                        </a:solidFill>
                        <a:effectLst/>
                        <a:latin typeface="Open Sans" panose="020B0606030504020204" pitchFamily="34" charset="0"/>
                      </a:endParaRPr>
                    </a:p>
                  </a:txBody>
                  <a:tcPr marL="9525" marR="9525" marT="9525" marB="0" anchor="ctr">
                    <a:noFill/>
                  </a:tcPr>
                </a:tc>
                <a:tc>
                  <a:txBody>
                    <a:bodyPr/>
                    <a:lstStyle/>
                    <a:p>
                      <a:pPr algn="ctr" fontAlgn="ctr">
                        <a:buNone/>
                      </a:pPr>
                      <a:r>
                        <a:rPr lang="en-US" sz="1600" u="none" strike="noStrike" dirty="0">
                          <a:effectLst/>
                        </a:rPr>
                        <a:t>Docebo</a:t>
                      </a:r>
                      <a:endParaRPr lang="en-US" sz="1600" b="1" i="0" u="none" strike="noStrike" dirty="0">
                        <a:solidFill>
                          <a:srgbClr val="3952B0"/>
                        </a:solidFill>
                        <a:effectLst/>
                        <a:latin typeface="Open Sans" panose="020B0606030504020204" pitchFamily="34" charset="0"/>
                      </a:endParaRPr>
                    </a:p>
                  </a:txBody>
                  <a:tcPr marL="9525" marR="9525" marT="9525" marB="0" anchor="ctr">
                    <a:noFill/>
                  </a:tcPr>
                </a:tc>
                <a:extLst>
                  <a:ext uri="{0D108BD9-81ED-4DB2-BD59-A6C34878D82A}">
                    <a16:rowId xmlns:a16="http://schemas.microsoft.com/office/drawing/2014/main" val="3557432672"/>
                  </a:ext>
                </a:extLst>
              </a:tr>
              <a:tr h="508809">
                <a:tc>
                  <a:txBody>
                    <a:bodyPr/>
                    <a:lstStyle/>
                    <a:p>
                      <a:pPr algn="r" fontAlgn="ctr">
                        <a:buNone/>
                      </a:pPr>
                      <a:r>
                        <a:rPr lang="en-US" sz="1600" u="none" strike="noStrike" dirty="0">
                          <a:solidFill>
                            <a:schemeClr val="bg1"/>
                          </a:solidFill>
                          <a:effectLst/>
                          <a:latin typeface="+mn-lt"/>
                        </a:rPr>
                        <a:t>Implementation Cost</a:t>
                      </a:r>
                      <a:endParaRPr lang="en-US" sz="1600" b="0" i="0" u="none" strike="noStrike" dirty="0">
                        <a:solidFill>
                          <a:schemeClr val="bg1"/>
                        </a:solidFill>
                        <a:effectLst/>
                        <a:latin typeface="+mn-lt"/>
                      </a:endParaRPr>
                    </a:p>
                  </a:txBody>
                  <a:tcPr marL="9525" marR="9525" marT="9525" marB="0" anchor="ctr">
                    <a:noFill/>
                  </a:tcPr>
                </a:tc>
                <a:tc>
                  <a:txBody>
                    <a:bodyPr/>
                    <a:lstStyle/>
                    <a:p>
                      <a:pPr algn="ctr" fontAlgn="ctr">
                        <a:buNone/>
                      </a:pPr>
                      <a:r>
                        <a:rPr lang="en-US" sz="1600" b="0" i="0" u="none" strike="noStrike" dirty="0">
                          <a:solidFill>
                            <a:schemeClr val="bg1"/>
                          </a:solidFill>
                          <a:effectLst/>
                          <a:latin typeface="+mn-lt"/>
                        </a:rPr>
                        <a:t>$3,600 (basic, no API assistance)</a:t>
                      </a:r>
                    </a:p>
                    <a:p>
                      <a:pPr algn="ctr" fontAlgn="ctr">
                        <a:buNone/>
                      </a:pPr>
                      <a:r>
                        <a:rPr lang="en-US" sz="1600" b="0" i="0" u="none" strike="noStrike" dirty="0">
                          <a:solidFill>
                            <a:schemeClr val="bg1"/>
                          </a:solidFill>
                          <a:effectLst/>
                          <a:latin typeface="+mn-lt"/>
                        </a:rPr>
                        <a:t>$8,000 (Enhanced onboarding with 4 hours API consult)</a:t>
                      </a:r>
                    </a:p>
                  </a:txBody>
                  <a:tcPr marL="9525" marR="9525" marT="9525" marB="0" anchor="ctr">
                    <a:noFill/>
                  </a:tcPr>
                </a:tc>
                <a:tc>
                  <a:txBody>
                    <a:bodyPr/>
                    <a:lstStyle/>
                    <a:p>
                      <a:pPr algn="ctr" fontAlgn="ctr">
                        <a:buNone/>
                      </a:pPr>
                      <a:r>
                        <a:rPr lang="en-US" sz="1600" u="none" strike="noStrike" dirty="0">
                          <a:solidFill>
                            <a:schemeClr val="bg1"/>
                          </a:solidFill>
                          <a:effectLst/>
                          <a:latin typeface="+mn-lt"/>
                        </a:rPr>
                        <a:t>Included with contract</a:t>
                      </a:r>
                      <a:endParaRPr lang="en-US" sz="1600" b="0" i="0" u="none" strike="noStrike" dirty="0">
                        <a:solidFill>
                          <a:schemeClr val="bg1"/>
                        </a:solidFill>
                        <a:effectLst/>
                        <a:latin typeface="+mn-lt"/>
                      </a:endParaRPr>
                    </a:p>
                  </a:txBody>
                  <a:tcPr marL="9525" marR="9525" marT="9525" marB="0" anchor="ctr">
                    <a:noFill/>
                  </a:tcPr>
                </a:tc>
                <a:extLst>
                  <a:ext uri="{0D108BD9-81ED-4DB2-BD59-A6C34878D82A}">
                    <a16:rowId xmlns:a16="http://schemas.microsoft.com/office/drawing/2014/main" val="2737822571"/>
                  </a:ext>
                </a:extLst>
              </a:tr>
              <a:tr h="508809">
                <a:tc>
                  <a:txBody>
                    <a:bodyPr/>
                    <a:lstStyle/>
                    <a:p>
                      <a:pPr algn="r" fontAlgn="ctr">
                        <a:buNone/>
                      </a:pPr>
                      <a:r>
                        <a:rPr lang="en-US" sz="1600" b="0" i="0" u="none" strike="noStrike" dirty="0">
                          <a:solidFill>
                            <a:schemeClr val="bg1"/>
                          </a:solidFill>
                          <a:effectLst/>
                          <a:latin typeface="+mn-lt"/>
                        </a:rPr>
                        <a:t>Minimum Active Monthly Users (AMU)</a:t>
                      </a:r>
                    </a:p>
                  </a:txBody>
                  <a:tcPr marL="9525" marR="9525" marT="9525" marB="0" anchor="ctr">
                    <a:noFill/>
                  </a:tcPr>
                </a:tc>
                <a:tc>
                  <a:txBody>
                    <a:bodyPr/>
                    <a:lstStyle/>
                    <a:p>
                      <a:pPr algn="ctr" fontAlgn="ctr">
                        <a:buNone/>
                      </a:pPr>
                      <a:r>
                        <a:rPr lang="en-US" sz="1600" b="0" i="0" u="none" strike="noStrike" dirty="0">
                          <a:solidFill>
                            <a:schemeClr val="bg1"/>
                          </a:solidFill>
                          <a:effectLst/>
                          <a:latin typeface="+mn-lt"/>
                        </a:rPr>
                        <a:t>101</a:t>
                      </a:r>
                    </a:p>
                  </a:txBody>
                  <a:tcPr marL="9525" marR="9525" marT="9525" marB="0" anchor="ctr">
                    <a:noFill/>
                  </a:tcPr>
                </a:tc>
                <a:tc>
                  <a:txBody>
                    <a:bodyPr/>
                    <a:lstStyle/>
                    <a:p>
                      <a:pPr algn="ctr" fontAlgn="ctr">
                        <a:buNone/>
                      </a:pPr>
                      <a:r>
                        <a:rPr lang="en-US" sz="1600" u="none" strike="noStrike" dirty="0">
                          <a:solidFill>
                            <a:schemeClr val="bg1"/>
                          </a:solidFill>
                          <a:effectLst/>
                          <a:latin typeface="+mn-lt"/>
                        </a:rPr>
                        <a:t>125</a:t>
                      </a:r>
                      <a:endParaRPr lang="en-US" sz="1600" b="0" i="0" u="none" strike="noStrike" dirty="0">
                        <a:solidFill>
                          <a:schemeClr val="bg1"/>
                        </a:solidFill>
                        <a:effectLst/>
                        <a:latin typeface="+mn-lt"/>
                      </a:endParaRPr>
                    </a:p>
                  </a:txBody>
                  <a:tcPr marL="9525" marR="9525" marT="9525" marB="0" anchor="ctr">
                    <a:noFill/>
                  </a:tcPr>
                </a:tc>
                <a:extLst>
                  <a:ext uri="{0D108BD9-81ED-4DB2-BD59-A6C34878D82A}">
                    <a16:rowId xmlns:a16="http://schemas.microsoft.com/office/drawing/2014/main" val="684137037"/>
                  </a:ext>
                </a:extLst>
              </a:tr>
              <a:tr h="508809">
                <a:tc>
                  <a:txBody>
                    <a:bodyPr/>
                    <a:lstStyle/>
                    <a:p>
                      <a:pPr algn="r" fontAlgn="ctr">
                        <a:buNone/>
                      </a:pPr>
                      <a:r>
                        <a:rPr lang="en-US" sz="1600" b="0" i="0" u="none" strike="noStrike" dirty="0">
                          <a:solidFill>
                            <a:schemeClr val="bg1"/>
                          </a:solidFill>
                          <a:effectLst/>
                          <a:latin typeface="+mn-lt"/>
                        </a:rPr>
                        <a:t>Annual Cost at Base User Count</a:t>
                      </a:r>
                    </a:p>
                  </a:txBody>
                  <a:tcPr marL="9525" marR="9525" marT="9525" marB="0" anchor="ctr">
                    <a:noFill/>
                  </a:tcPr>
                </a:tc>
                <a:tc>
                  <a:txBody>
                    <a:bodyPr/>
                    <a:lstStyle/>
                    <a:p>
                      <a:pPr algn="ctr" fontAlgn="ctr">
                        <a:buNone/>
                      </a:pPr>
                      <a:r>
                        <a:rPr lang="en-US" sz="1600" b="0" i="0" u="none" strike="noStrike" dirty="0">
                          <a:solidFill>
                            <a:schemeClr val="bg1"/>
                          </a:solidFill>
                          <a:effectLst/>
                          <a:latin typeface="+mn-lt"/>
                        </a:rPr>
                        <a:t>$6,600</a:t>
                      </a:r>
                    </a:p>
                  </a:txBody>
                  <a:tcPr marL="9525" marR="9525" marT="9525" marB="0" anchor="ctr">
                    <a:noFill/>
                  </a:tcPr>
                </a:tc>
                <a:tc>
                  <a:txBody>
                    <a:bodyPr/>
                    <a:lstStyle/>
                    <a:p>
                      <a:pPr algn="ctr" fontAlgn="ctr">
                        <a:buNone/>
                      </a:pPr>
                      <a:r>
                        <a:rPr lang="en-US" sz="1600" b="0" i="0" u="none" strike="noStrike" dirty="0">
                          <a:solidFill>
                            <a:schemeClr val="bg1"/>
                          </a:solidFill>
                          <a:effectLst/>
                          <a:latin typeface="+mn-lt"/>
                        </a:rPr>
                        <a:t>$27,000</a:t>
                      </a:r>
                    </a:p>
                  </a:txBody>
                  <a:tcPr marL="9525" marR="9525" marT="9525" marB="0" anchor="ctr">
                    <a:noFill/>
                  </a:tcPr>
                </a:tc>
                <a:extLst>
                  <a:ext uri="{0D108BD9-81ED-4DB2-BD59-A6C34878D82A}">
                    <a16:rowId xmlns:a16="http://schemas.microsoft.com/office/drawing/2014/main" val="2318309727"/>
                  </a:ext>
                </a:extLst>
              </a:tr>
              <a:tr h="508809">
                <a:tc>
                  <a:txBody>
                    <a:bodyPr/>
                    <a:lstStyle/>
                    <a:p>
                      <a:pPr algn="r" fontAlgn="ctr">
                        <a:buNone/>
                      </a:pPr>
                      <a:r>
                        <a:rPr lang="en-US" sz="1600" b="0" i="0" u="none" strike="noStrike" dirty="0">
                          <a:solidFill>
                            <a:schemeClr val="bg1"/>
                          </a:solidFill>
                          <a:effectLst/>
                          <a:latin typeface="+mn-lt"/>
                        </a:rPr>
                        <a:t>Year One Cost</a:t>
                      </a:r>
                    </a:p>
                  </a:txBody>
                  <a:tcPr marL="9525" marR="9525" marT="9525" marB="0" anchor="ctr">
                    <a:noFill/>
                  </a:tcPr>
                </a:tc>
                <a:tc>
                  <a:txBody>
                    <a:bodyPr/>
                    <a:lstStyle/>
                    <a:p>
                      <a:pPr algn="ctr" fontAlgn="ctr">
                        <a:buNone/>
                      </a:pPr>
                      <a:r>
                        <a:rPr lang="en-US" sz="1600" b="0" i="0" u="none" strike="noStrike" dirty="0">
                          <a:solidFill>
                            <a:schemeClr val="bg1"/>
                          </a:solidFill>
                          <a:effectLst/>
                          <a:latin typeface="+mn-lt"/>
                        </a:rPr>
                        <a:t>$10,200 – 14,600</a:t>
                      </a:r>
                    </a:p>
                  </a:txBody>
                  <a:tcPr marL="9525" marR="9525" marT="9525" marB="0" anchor="ctr">
                    <a:noFill/>
                  </a:tcPr>
                </a:tc>
                <a:tc>
                  <a:txBody>
                    <a:bodyPr/>
                    <a:lstStyle/>
                    <a:p>
                      <a:pPr algn="ctr" fontAlgn="ctr">
                        <a:buNone/>
                      </a:pPr>
                      <a:r>
                        <a:rPr lang="en-US" sz="1600" b="0" i="0" u="none" strike="noStrike" dirty="0">
                          <a:solidFill>
                            <a:schemeClr val="bg1"/>
                          </a:solidFill>
                          <a:effectLst/>
                          <a:latin typeface="+mn-lt"/>
                        </a:rPr>
                        <a:t>$27,000</a:t>
                      </a:r>
                    </a:p>
                  </a:txBody>
                  <a:tcPr marL="9525" marR="9525" marT="9525" marB="0" anchor="ctr">
                    <a:noFill/>
                  </a:tcPr>
                </a:tc>
                <a:extLst>
                  <a:ext uri="{0D108BD9-81ED-4DB2-BD59-A6C34878D82A}">
                    <a16:rowId xmlns:a16="http://schemas.microsoft.com/office/drawing/2014/main" val="2720011196"/>
                  </a:ext>
                </a:extLst>
              </a:tr>
              <a:tr h="508809">
                <a:tc>
                  <a:txBody>
                    <a:bodyPr/>
                    <a:lstStyle/>
                    <a:p>
                      <a:pPr algn="r" fontAlgn="ctr">
                        <a:buNone/>
                      </a:pPr>
                      <a:r>
                        <a:rPr lang="en-US" sz="1600" b="0" i="0" u="none" strike="noStrike" dirty="0">
                          <a:solidFill>
                            <a:schemeClr val="bg1"/>
                          </a:solidFill>
                          <a:effectLst/>
                          <a:latin typeface="+mn-lt"/>
                        </a:rPr>
                        <a:t>Annual Cost at 250 AMU</a:t>
                      </a:r>
                    </a:p>
                  </a:txBody>
                  <a:tcPr marL="9525" marR="9525" marT="9525" marB="0" anchor="ctr">
                    <a:noFill/>
                  </a:tcPr>
                </a:tc>
                <a:tc>
                  <a:txBody>
                    <a:bodyPr/>
                    <a:lstStyle/>
                    <a:p>
                      <a:pPr algn="ctr" fontAlgn="ctr">
                        <a:buNone/>
                      </a:pPr>
                      <a:r>
                        <a:rPr lang="en-US" sz="1600" b="0" i="0" u="none" strike="noStrike" dirty="0">
                          <a:solidFill>
                            <a:schemeClr val="bg1"/>
                          </a:solidFill>
                          <a:effectLst/>
                          <a:latin typeface="+mn-lt"/>
                        </a:rPr>
                        <a:t>$19,600</a:t>
                      </a:r>
                    </a:p>
                  </a:txBody>
                  <a:tcPr marL="9525" marR="9525" marT="9525" marB="0" anchor="ctr">
                    <a:noFill/>
                  </a:tcPr>
                </a:tc>
                <a:tc>
                  <a:txBody>
                    <a:bodyPr/>
                    <a:lstStyle/>
                    <a:p>
                      <a:pPr algn="ctr" fontAlgn="ctr">
                        <a:buNone/>
                      </a:pPr>
                      <a:r>
                        <a:rPr lang="en-US" sz="1600" b="0" i="0" u="none" strike="noStrike" dirty="0">
                          <a:solidFill>
                            <a:schemeClr val="bg1"/>
                          </a:solidFill>
                          <a:effectLst/>
                          <a:latin typeface="+mn-lt"/>
                        </a:rPr>
                        <a:t>$36,100</a:t>
                      </a:r>
                    </a:p>
                  </a:txBody>
                  <a:tcPr marL="9525" marR="9525" marT="9525" marB="0" anchor="ctr">
                    <a:noFill/>
                  </a:tcPr>
                </a:tc>
                <a:extLst>
                  <a:ext uri="{0D108BD9-81ED-4DB2-BD59-A6C34878D82A}">
                    <a16:rowId xmlns:a16="http://schemas.microsoft.com/office/drawing/2014/main" val="4173342646"/>
                  </a:ext>
                </a:extLst>
              </a:tr>
              <a:tr h="508809">
                <a:tc>
                  <a:txBody>
                    <a:bodyPr/>
                    <a:lstStyle/>
                    <a:p>
                      <a:pPr algn="r" fontAlgn="ctr">
                        <a:buNone/>
                      </a:pPr>
                      <a:r>
                        <a:rPr lang="en-US" sz="1600" b="0" i="0" u="none" strike="noStrike" dirty="0">
                          <a:solidFill>
                            <a:schemeClr val="bg1"/>
                          </a:solidFill>
                          <a:effectLst/>
                          <a:latin typeface="+mn-lt"/>
                        </a:rPr>
                        <a:t>Annual Cost at 500 AMU</a:t>
                      </a:r>
                    </a:p>
                  </a:txBody>
                  <a:tcPr marL="9525" marR="9525" marT="9525" marB="0" anchor="ctr">
                    <a:noFill/>
                  </a:tcPr>
                </a:tc>
                <a:tc>
                  <a:txBody>
                    <a:bodyPr/>
                    <a:lstStyle/>
                    <a:p>
                      <a:pPr algn="ctr" fontAlgn="ctr">
                        <a:buNone/>
                      </a:pPr>
                      <a:r>
                        <a:rPr lang="en-US" sz="1600" b="0" i="0" u="none" strike="noStrike" dirty="0">
                          <a:solidFill>
                            <a:schemeClr val="bg1"/>
                          </a:solidFill>
                          <a:effectLst/>
                          <a:latin typeface="+mn-lt"/>
                        </a:rPr>
                        <a:t>$32,700</a:t>
                      </a:r>
                    </a:p>
                  </a:txBody>
                  <a:tcPr marL="9525" marR="9525" marT="9525" marB="0" anchor="ctr">
                    <a:noFill/>
                  </a:tcPr>
                </a:tc>
                <a:tc>
                  <a:txBody>
                    <a:bodyPr/>
                    <a:lstStyle/>
                    <a:p>
                      <a:pPr algn="ctr" fontAlgn="ctr">
                        <a:buNone/>
                      </a:pPr>
                      <a:r>
                        <a:rPr lang="en-US" sz="1600" b="0" i="0" u="none" strike="noStrike" dirty="0">
                          <a:solidFill>
                            <a:schemeClr val="bg1"/>
                          </a:solidFill>
                          <a:effectLst/>
                          <a:latin typeface="+mn-lt"/>
                        </a:rPr>
                        <a:t>$40,100</a:t>
                      </a:r>
                    </a:p>
                  </a:txBody>
                  <a:tcPr marL="9525" marR="9525" marT="9525" marB="0" anchor="ctr">
                    <a:noFill/>
                  </a:tcPr>
                </a:tc>
                <a:extLst>
                  <a:ext uri="{0D108BD9-81ED-4DB2-BD59-A6C34878D82A}">
                    <a16:rowId xmlns:a16="http://schemas.microsoft.com/office/drawing/2014/main" val="239112117"/>
                  </a:ext>
                </a:extLst>
              </a:tr>
              <a:tr h="508809">
                <a:tc>
                  <a:txBody>
                    <a:bodyPr/>
                    <a:lstStyle/>
                    <a:p>
                      <a:pPr algn="r" fontAlgn="ctr">
                        <a:buNone/>
                      </a:pPr>
                      <a:r>
                        <a:rPr lang="en-US" sz="1600" b="0" i="0" u="none" strike="noStrike" dirty="0">
                          <a:solidFill>
                            <a:schemeClr val="bg1"/>
                          </a:solidFill>
                          <a:effectLst/>
                          <a:latin typeface="+mn-lt"/>
                        </a:rPr>
                        <a:t>Contract Terms</a:t>
                      </a:r>
                    </a:p>
                  </a:txBody>
                  <a:tcPr marL="9525" marR="9525" marT="9525" marB="0" anchor="ctr">
                    <a:noFill/>
                  </a:tcPr>
                </a:tc>
                <a:tc>
                  <a:txBody>
                    <a:bodyPr/>
                    <a:lstStyle/>
                    <a:p>
                      <a:pPr algn="ctr" fontAlgn="ctr">
                        <a:buNone/>
                      </a:pPr>
                      <a:r>
                        <a:rPr lang="en-US" sz="1600" b="0" i="0" u="none" strike="noStrike" dirty="0">
                          <a:solidFill>
                            <a:schemeClr val="bg1"/>
                          </a:solidFill>
                          <a:effectLst/>
                          <a:latin typeface="+mn-lt"/>
                        </a:rPr>
                        <a:t>3 Year</a:t>
                      </a:r>
                    </a:p>
                  </a:txBody>
                  <a:tcPr marL="9525" marR="9525" marT="9525" marB="0" anchor="ctr">
                    <a:noFill/>
                  </a:tcPr>
                </a:tc>
                <a:tc>
                  <a:txBody>
                    <a:bodyPr/>
                    <a:lstStyle/>
                    <a:p>
                      <a:pPr algn="ctr" fontAlgn="ctr">
                        <a:buNone/>
                      </a:pPr>
                      <a:r>
                        <a:rPr lang="en-US" sz="1600" b="0" i="0" u="none" strike="noStrike" dirty="0">
                          <a:solidFill>
                            <a:schemeClr val="bg1"/>
                          </a:solidFill>
                          <a:effectLst/>
                          <a:latin typeface="+mn-lt"/>
                        </a:rPr>
                        <a:t>3 Year</a:t>
                      </a:r>
                    </a:p>
                  </a:txBody>
                  <a:tcPr marL="9525" marR="9525" marT="9525" marB="0" anchor="ctr">
                    <a:noFill/>
                  </a:tcPr>
                </a:tc>
                <a:extLst>
                  <a:ext uri="{0D108BD9-81ED-4DB2-BD59-A6C34878D82A}">
                    <a16:rowId xmlns:a16="http://schemas.microsoft.com/office/drawing/2014/main" val="3049199943"/>
                  </a:ext>
                </a:extLst>
              </a:tr>
            </a:tbl>
          </a:graphicData>
        </a:graphic>
      </p:graphicFrame>
    </p:spTree>
    <p:extLst>
      <p:ext uri="{BB962C8B-B14F-4D97-AF65-F5344CB8AC3E}">
        <p14:creationId xmlns:p14="http://schemas.microsoft.com/office/powerpoint/2010/main" val="11946491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94C06-BA1A-D842-73DB-38BE9D05B15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C7D62F3-1C95-53AD-9907-04396A3BDA4A}"/>
              </a:ext>
            </a:extLst>
          </p:cNvPr>
          <p:cNvSpPr>
            <a:spLocks noGrp="1"/>
          </p:cNvSpPr>
          <p:nvPr>
            <p:ph type="title"/>
          </p:nvPr>
        </p:nvSpPr>
        <p:spPr>
          <a:xfrm>
            <a:off x="548802" y="224118"/>
            <a:ext cx="10873740" cy="668496"/>
          </a:xfrm>
        </p:spPr>
        <p:txBody>
          <a:bodyPr/>
          <a:lstStyle/>
          <a:p>
            <a:r>
              <a:rPr lang="en-US" sz="3600" dirty="0"/>
              <a:t>Initial Time Investments</a:t>
            </a:r>
          </a:p>
        </p:txBody>
      </p:sp>
      <p:grpSp>
        <p:nvGrpSpPr>
          <p:cNvPr id="19" name="Group 18">
            <a:extLst>
              <a:ext uri="{FF2B5EF4-FFF2-40B4-BE49-F238E27FC236}">
                <a16:creationId xmlns:a16="http://schemas.microsoft.com/office/drawing/2014/main" id="{ED797436-28C3-27BC-EAC9-EE4EBD452254}"/>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A20C83D6-E0C2-0E0C-1CB4-07505310175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0C7F74AE-5ED0-2DAA-FAF5-FBFF5286C36D}"/>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EAD8A5C1-58A2-A2D1-DF3C-64C86693A58A}"/>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4" name="Rectangle 3">
            <a:extLst>
              <a:ext uri="{FF2B5EF4-FFF2-40B4-BE49-F238E27FC236}">
                <a16:creationId xmlns:a16="http://schemas.microsoft.com/office/drawing/2014/main" id="{80A9423E-4431-4A08-67DA-C24E56C7FE0D}"/>
              </a:ext>
            </a:extLst>
          </p:cNvPr>
          <p:cNvSpPr/>
          <p:nvPr/>
        </p:nvSpPr>
        <p:spPr>
          <a:xfrm>
            <a:off x="548802" y="1832261"/>
            <a:ext cx="2291675" cy="54952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ontent Placeholder 2">
            <a:extLst>
              <a:ext uri="{FF2B5EF4-FFF2-40B4-BE49-F238E27FC236}">
                <a16:creationId xmlns:a16="http://schemas.microsoft.com/office/drawing/2014/main" id="{19B032BF-9CF8-D51C-AEE0-1AEC9C3EC615}"/>
              </a:ext>
            </a:extLst>
          </p:cNvPr>
          <p:cNvSpPr>
            <a:spLocks noGrp="1"/>
          </p:cNvSpPr>
          <p:nvPr>
            <p:ph sz="quarter" idx="13"/>
          </p:nvPr>
        </p:nvSpPr>
        <p:spPr>
          <a:xfrm>
            <a:off x="1326776" y="913981"/>
            <a:ext cx="10013577" cy="4640280"/>
          </a:xfrm>
        </p:spPr>
        <p:txBody>
          <a:bodyPr>
            <a:noAutofit/>
          </a:bodyPr>
          <a:lstStyle/>
          <a:p>
            <a:pPr marL="0" indent="0">
              <a:lnSpc>
                <a:spcPct val="100000"/>
              </a:lnSpc>
              <a:spcBef>
                <a:spcPts val="600"/>
              </a:spcBef>
              <a:buNone/>
            </a:pPr>
            <a:r>
              <a:rPr lang="en-US" sz="1600" b="1" dirty="0"/>
              <a:t>Exec &amp; Development Team</a:t>
            </a:r>
          </a:p>
          <a:p>
            <a:pPr marL="1030288" indent="-339725">
              <a:lnSpc>
                <a:spcPct val="100000"/>
              </a:lnSpc>
              <a:spcBef>
                <a:spcPts val="600"/>
              </a:spcBef>
            </a:pPr>
            <a:r>
              <a:rPr lang="en-US" sz="1600" dirty="0"/>
              <a:t>Develop new pricing strategies</a:t>
            </a:r>
          </a:p>
          <a:p>
            <a:pPr marL="0" indent="0">
              <a:lnSpc>
                <a:spcPct val="100000"/>
              </a:lnSpc>
              <a:spcBef>
                <a:spcPts val="600"/>
              </a:spcBef>
              <a:buNone/>
            </a:pPr>
            <a:r>
              <a:rPr lang="en-US" sz="1600" b="1" dirty="0"/>
              <a:t>Development Team</a:t>
            </a:r>
          </a:p>
          <a:p>
            <a:pPr marL="1028700" lvl="1" indent="-342900">
              <a:lnSpc>
                <a:spcPct val="100000"/>
              </a:lnSpc>
              <a:spcBef>
                <a:spcPts val="600"/>
              </a:spcBef>
            </a:pPr>
            <a:r>
              <a:rPr lang="en-US" sz="1600" dirty="0"/>
              <a:t>Update Sandbox website to allow embedding in LMS</a:t>
            </a:r>
          </a:p>
          <a:p>
            <a:pPr marL="1028700" lvl="1" indent="-342900">
              <a:lnSpc>
                <a:spcPct val="100000"/>
              </a:lnSpc>
              <a:spcBef>
                <a:spcPts val="600"/>
              </a:spcBef>
            </a:pPr>
            <a:r>
              <a:rPr lang="en-US" sz="1600" dirty="0"/>
              <a:t>Develop API for monitoring Sandbox usage</a:t>
            </a:r>
          </a:p>
          <a:p>
            <a:pPr marL="0" indent="0">
              <a:lnSpc>
                <a:spcPct val="100000"/>
              </a:lnSpc>
              <a:spcBef>
                <a:spcPts val="600"/>
              </a:spcBef>
              <a:buNone/>
            </a:pPr>
            <a:r>
              <a:rPr lang="en-US" sz="1600" b="1" dirty="0"/>
              <a:t>Training Team</a:t>
            </a:r>
          </a:p>
          <a:p>
            <a:pPr marL="1028700" lvl="1" indent="-342900">
              <a:lnSpc>
                <a:spcPct val="100000"/>
              </a:lnSpc>
              <a:spcBef>
                <a:spcPts val="600"/>
              </a:spcBef>
            </a:pPr>
            <a:r>
              <a:rPr lang="en-US" sz="1600" dirty="0"/>
              <a:t>Create groups/learning flow paths based on new pricing strategies, user needs, and other factors TBD</a:t>
            </a:r>
          </a:p>
          <a:p>
            <a:pPr marL="1028700" lvl="1" indent="-342900">
              <a:lnSpc>
                <a:spcPct val="100000"/>
              </a:lnSpc>
              <a:spcBef>
                <a:spcPts val="600"/>
              </a:spcBef>
            </a:pPr>
            <a:r>
              <a:rPr lang="en-US" sz="1600" dirty="0"/>
              <a:t>Develop Phase 1 Courses – which would include all content currently delivered in AS &amp; DV webinars</a:t>
            </a:r>
          </a:p>
          <a:p>
            <a:pPr marL="1028700" lvl="1" indent="-342900">
              <a:lnSpc>
                <a:spcPct val="100000"/>
              </a:lnSpc>
              <a:spcBef>
                <a:spcPts val="600"/>
              </a:spcBef>
            </a:pPr>
            <a:r>
              <a:rPr lang="en-US" sz="1600" dirty="0"/>
              <a:t>Develop Phase 2 Courses – additional specialty content like volunteer and grant management</a:t>
            </a:r>
          </a:p>
          <a:p>
            <a:pPr marL="0" lvl="1" indent="0">
              <a:lnSpc>
                <a:spcPct val="100000"/>
              </a:lnSpc>
              <a:spcBef>
                <a:spcPts val="600"/>
              </a:spcBef>
              <a:buNone/>
            </a:pPr>
            <a:r>
              <a:rPr lang="en-US" sz="1600" b="1" dirty="0"/>
              <a:t>Implementation &amp; Training Team</a:t>
            </a:r>
          </a:p>
          <a:p>
            <a:pPr marL="1030288" lvl="2" indent="-342900">
              <a:lnSpc>
                <a:spcPct val="100000"/>
              </a:lnSpc>
              <a:spcBef>
                <a:spcPts val="600"/>
              </a:spcBef>
            </a:pPr>
            <a:r>
              <a:rPr lang="en-US" sz="1600" dirty="0"/>
              <a:t>Develop Implementation Workflow into a course/module</a:t>
            </a:r>
          </a:p>
          <a:p>
            <a:pPr marL="1030288" lvl="2" indent="-342900">
              <a:lnSpc>
                <a:spcPct val="100000"/>
              </a:lnSpc>
              <a:spcBef>
                <a:spcPts val="600"/>
              </a:spcBef>
            </a:pPr>
            <a:r>
              <a:rPr lang="en-US" sz="1600" dirty="0"/>
              <a:t>Create new intake form to identify users and training requirements/flow paths</a:t>
            </a:r>
          </a:p>
          <a:p>
            <a:pPr marL="0" lvl="1" indent="0">
              <a:lnSpc>
                <a:spcPct val="100000"/>
              </a:lnSpc>
              <a:spcBef>
                <a:spcPts val="600"/>
              </a:spcBef>
              <a:buNone/>
            </a:pPr>
            <a:r>
              <a:rPr lang="en-US" sz="1600" b="1" dirty="0"/>
              <a:t>All Staff</a:t>
            </a:r>
          </a:p>
          <a:p>
            <a:pPr marL="1030288" lvl="2" indent="-342900">
              <a:lnSpc>
                <a:spcPct val="100000"/>
              </a:lnSpc>
              <a:spcBef>
                <a:spcPts val="600"/>
              </a:spcBef>
            </a:pPr>
            <a:r>
              <a:rPr lang="en-US" sz="1600" dirty="0"/>
              <a:t>Attend training and test new LMS system courses</a:t>
            </a:r>
          </a:p>
        </p:txBody>
      </p:sp>
    </p:spTree>
    <p:extLst>
      <p:ext uri="{BB962C8B-B14F-4D97-AF65-F5344CB8AC3E}">
        <p14:creationId xmlns:p14="http://schemas.microsoft.com/office/powerpoint/2010/main" val="32169914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2A0F3-35C6-60DE-443C-749289E04411}"/>
              </a:ext>
            </a:extLst>
          </p:cNvPr>
          <p:cNvSpPr>
            <a:spLocks noGrp="1"/>
          </p:cNvSpPr>
          <p:nvPr>
            <p:ph type="ctrTitle"/>
          </p:nvPr>
        </p:nvSpPr>
        <p:spPr/>
        <p:txBody>
          <a:bodyPr/>
          <a:lstStyle/>
          <a:p>
            <a:r>
              <a:rPr lang="en-US" dirty="0"/>
              <a:t>Questions?</a:t>
            </a:r>
          </a:p>
        </p:txBody>
      </p:sp>
    </p:spTree>
    <p:extLst>
      <p:ext uri="{BB962C8B-B14F-4D97-AF65-F5344CB8AC3E}">
        <p14:creationId xmlns:p14="http://schemas.microsoft.com/office/powerpoint/2010/main" val="934927151"/>
      </p:ext>
    </p:extLst>
  </p:cSld>
  <p:clrMapOvr>
    <a:masterClrMapping/>
  </p:clrMapOvr>
</p:sld>
</file>

<file path=ppt/theme/theme1.xml><?xml version="1.0" encoding="utf-8"?>
<a:theme xmlns:a="http://schemas.openxmlformats.org/drawingml/2006/main" name="Custom">
  <a:themeElements>
    <a:clrScheme name="Custom 9">
      <a:dk1>
        <a:srgbClr val="002060"/>
      </a:dk1>
      <a:lt1>
        <a:sysClr val="window" lastClr="FFFFFF"/>
      </a:lt1>
      <a:dk2>
        <a:srgbClr val="002060"/>
      </a:dk2>
      <a:lt2>
        <a:srgbClr val="002060"/>
      </a:lt2>
      <a:accent1>
        <a:srgbClr val="002060"/>
      </a:accent1>
      <a:accent2>
        <a:srgbClr val="FF0000"/>
      </a:accent2>
      <a:accent3>
        <a:srgbClr val="FF6600"/>
      </a:accent3>
      <a:accent4>
        <a:srgbClr val="002060"/>
      </a:accent4>
      <a:accent5>
        <a:srgbClr val="FF0000"/>
      </a:accent5>
      <a:accent6>
        <a:srgbClr val="FF6600"/>
      </a:accent6>
      <a:hlink>
        <a:srgbClr val="002060"/>
      </a:hlink>
      <a:folHlink>
        <a:srgbClr val="FF0000"/>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8853419_Win32_SL_V5" id="{958D2C9E-948D-4354-BF9D-DF8AE3C2B240}" vid="{22D4A967-05D2-4D72-8594-54CFF341483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92DB9E12-8AC3-4138-BF4D-720A5525AB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21FFAC0-05A2-416A-B06C-C248395482CF}">
  <ds:schemaRefs>
    <ds:schemaRef ds:uri="http://schemas.microsoft.com/sharepoint/v3/contenttype/forms"/>
  </ds:schemaRefs>
</ds:datastoreItem>
</file>

<file path=customXml/itemProps3.xml><?xml version="1.0" encoding="utf-8"?>
<ds:datastoreItem xmlns:ds="http://schemas.openxmlformats.org/officeDocument/2006/customXml" ds:itemID="{4F4B194E-8B30-4377-8C59-ECFB902D2A26}">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{F835D7D9-BD70-4BCD-8EFD-88320D28C9ED}TFd3b75063-ff25-434d-b12c-efeaf07d16c3292f62b5_win32-75a75c970d8e</Template>
  <TotalTime>1514</TotalTime>
  <Words>1687</Words>
  <Application>Microsoft Office PowerPoint</Application>
  <PresentationFormat>Widescreen</PresentationFormat>
  <Paragraphs>208</Paragraphs>
  <Slides>14</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Courier New</vt:lpstr>
      <vt:lpstr>Franklin Gothic Book</vt:lpstr>
      <vt:lpstr>Franklin Gothic Demi</vt:lpstr>
      <vt:lpstr>Open Sans</vt:lpstr>
      <vt:lpstr>Custom</vt:lpstr>
      <vt:lpstr>Learning Management System Proposal</vt:lpstr>
      <vt:lpstr>What is an LMS?</vt:lpstr>
      <vt:lpstr>Internal Benefits of an LMS</vt:lpstr>
      <vt:lpstr>Customer Benefits of an LMS</vt:lpstr>
      <vt:lpstr>LMS Platforms Reviewed</vt:lpstr>
      <vt:lpstr>Training Attendance Information</vt:lpstr>
      <vt:lpstr>Video Analytics</vt:lpstr>
      <vt:lpstr>Proposed Training Program Changes</vt:lpstr>
      <vt:lpstr>Summary of LMS Provider Reviews</vt:lpstr>
      <vt:lpstr>Docebo</vt:lpstr>
      <vt:lpstr>Litmos</vt:lpstr>
      <vt:lpstr>Financial Investments</vt:lpstr>
      <vt:lpstr>Initial Time Investments</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Kimberly Perron</dc:creator>
  <cp:lastModifiedBy>Kimberly Perron</cp:lastModifiedBy>
  <cp:revision>2</cp:revision>
  <dcterms:created xsi:type="dcterms:W3CDTF">2025-06-17T16:23:02Z</dcterms:created>
  <dcterms:modified xsi:type="dcterms:W3CDTF">2026-04-19T17:50:33Z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