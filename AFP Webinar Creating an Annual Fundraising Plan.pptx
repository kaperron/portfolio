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407" r:id="rId4"/>
    <p:sldId id="323" r:id="rId5"/>
    <p:sldId id="408" r:id="rId6"/>
    <p:sldId id="410" r:id="rId7"/>
    <p:sldId id="441" r:id="rId8"/>
    <p:sldId id="442" r:id="rId9"/>
    <p:sldId id="443" r:id="rId10"/>
    <p:sldId id="411" r:id="rId11"/>
    <p:sldId id="412" r:id="rId12"/>
    <p:sldId id="416" r:id="rId13"/>
    <p:sldId id="414" r:id="rId14"/>
    <p:sldId id="415" r:id="rId15"/>
    <p:sldId id="418" r:id="rId16"/>
    <p:sldId id="419" r:id="rId17"/>
    <p:sldId id="417" r:id="rId18"/>
    <p:sldId id="423" r:id="rId19"/>
    <p:sldId id="421" r:id="rId20"/>
    <p:sldId id="429" r:id="rId21"/>
    <p:sldId id="420" r:id="rId22"/>
    <p:sldId id="422" r:id="rId23"/>
    <p:sldId id="424" r:id="rId24"/>
    <p:sldId id="425" r:id="rId25"/>
    <p:sldId id="426" r:id="rId26"/>
    <p:sldId id="427" r:id="rId27"/>
    <p:sldId id="430" r:id="rId28"/>
    <p:sldId id="431" r:id="rId29"/>
    <p:sldId id="432" r:id="rId30"/>
    <p:sldId id="433" r:id="rId31"/>
    <p:sldId id="434" r:id="rId32"/>
    <p:sldId id="435" r:id="rId33"/>
    <p:sldId id="438" r:id="rId34"/>
    <p:sldId id="436" r:id="rId35"/>
    <p:sldId id="437" r:id="rId36"/>
    <p:sldId id="439" r:id="rId37"/>
    <p:sldId id="383" r:id="rId38"/>
    <p:sldId id="440" r:id="rId39"/>
    <p:sldId id="27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039"/>
    <a:srgbClr val="252260"/>
    <a:srgbClr val="F18120"/>
    <a:srgbClr val="EE4238"/>
    <a:srgbClr val="33CCCC"/>
    <a:srgbClr val="F5F5F5"/>
    <a:srgbClr val="898A8B"/>
    <a:srgbClr val="969798"/>
    <a:srgbClr val="FFC819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72560-43E9-46E2-A00D-382782D89ECA}" v="5" dt="2023-08-08T01:33:45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1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Perron" userId="5cbb7adf-dcc5-4575-b463-4d02fa27e6cf" providerId="ADAL" clId="{24072560-43E9-46E2-A00D-382782D89ECA}"/>
    <pc:docChg chg="custSel addSld delSld modSld sldOrd">
      <pc:chgData name="Kimberly Perron" userId="5cbb7adf-dcc5-4575-b463-4d02fa27e6cf" providerId="ADAL" clId="{24072560-43E9-46E2-A00D-382782D89ECA}" dt="2023-08-08T12:31:32.202" v="1938" actId="20577"/>
      <pc:docMkLst>
        <pc:docMk/>
      </pc:docMkLst>
      <pc:sldChg chg="modSp mod">
        <pc:chgData name="Kimberly Perron" userId="5cbb7adf-dcc5-4575-b463-4d02fa27e6cf" providerId="ADAL" clId="{24072560-43E9-46E2-A00D-382782D89ECA}" dt="2023-08-08T12:31:32.202" v="1938" actId="20577"/>
        <pc:sldMkLst>
          <pc:docMk/>
          <pc:sldMk cId="2131696739" sldId="323"/>
        </pc:sldMkLst>
        <pc:spChg chg="mod">
          <ac:chgData name="Kimberly Perron" userId="5cbb7adf-dcc5-4575-b463-4d02fa27e6cf" providerId="ADAL" clId="{24072560-43E9-46E2-A00D-382782D89ECA}" dt="2023-08-08T12:31:32.202" v="1938" actId="20577"/>
          <ac:spMkLst>
            <pc:docMk/>
            <pc:sldMk cId="2131696739" sldId="323"/>
            <ac:spMk id="5" creationId="{81561FA0-D1C7-AD45-AAC2-3F6D42047E16}"/>
          </ac:spMkLst>
        </pc:spChg>
      </pc:sldChg>
      <pc:sldChg chg="ord">
        <pc:chgData name="Kimberly Perron" userId="5cbb7adf-dcc5-4575-b463-4d02fa27e6cf" providerId="ADAL" clId="{24072560-43E9-46E2-A00D-382782D89ECA}" dt="2023-08-08T01:08:33.645" v="1249"/>
        <pc:sldMkLst>
          <pc:docMk/>
          <pc:sldMk cId="1880459377" sldId="383"/>
        </pc:sldMkLst>
      </pc:sldChg>
      <pc:sldChg chg="del">
        <pc:chgData name="Kimberly Perron" userId="5cbb7adf-dcc5-4575-b463-4d02fa27e6cf" providerId="ADAL" clId="{24072560-43E9-46E2-A00D-382782D89ECA}" dt="2023-08-08T01:09:16.297" v="1250" actId="47"/>
        <pc:sldMkLst>
          <pc:docMk/>
          <pc:sldMk cId="2442192490" sldId="409"/>
        </pc:sldMkLst>
      </pc:sldChg>
      <pc:sldChg chg="modSp mod">
        <pc:chgData name="Kimberly Perron" userId="5cbb7adf-dcc5-4575-b463-4d02fa27e6cf" providerId="ADAL" clId="{24072560-43E9-46E2-A00D-382782D89ECA}" dt="2023-08-08T00:25:03.928" v="329" actId="20577"/>
        <pc:sldMkLst>
          <pc:docMk/>
          <pc:sldMk cId="3553880686" sldId="434"/>
        </pc:sldMkLst>
        <pc:spChg chg="mod">
          <ac:chgData name="Kimberly Perron" userId="5cbb7adf-dcc5-4575-b463-4d02fa27e6cf" providerId="ADAL" clId="{24072560-43E9-46E2-A00D-382782D89ECA}" dt="2023-08-08T00:25:03.928" v="329" actId="20577"/>
          <ac:spMkLst>
            <pc:docMk/>
            <pc:sldMk cId="3553880686" sldId="434"/>
            <ac:spMk id="5" creationId="{B89AD4BB-4F1C-D5DB-5318-ED1495EA8F32}"/>
          </ac:spMkLst>
        </pc:spChg>
        <pc:spChg chg="mod">
          <ac:chgData name="Kimberly Perron" userId="5cbb7adf-dcc5-4575-b463-4d02fa27e6cf" providerId="ADAL" clId="{24072560-43E9-46E2-A00D-382782D89ECA}" dt="2023-08-08T00:19:54.794" v="186" actId="20577"/>
          <ac:spMkLst>
            <pc:docMk/>
            <pc:sldMk cId="3553880686" sldId="434"/>
            <ac:spMk id="9" creationId="{4B6DD2AD-DD20-A6EB-4CAF-5FC2073501D5}"/>
          </ac:spMkLst>
        </pc:spChg>
      </pc:sldChg>
      <pc:sldChg chg="modSp add mod">
        <pc:chgData name="Kimberly Perron" userId="5cbb7adf-dcc5-4575-b463-4d02fa27e6cf" providerId="ADAL" clId="{24072560-43E9-46E2-A00D-382782D89ECA}" dt="2023-08-08T00:26:01.193" v="363" actId="255"/>
        <pc:sldMkLst>
          <pc:docMk/>
          <pc:sldMk cId="1768175497" sldId="435"/>
        </pc:sldMkLst>
        <pc:spChg chg="mod">
          <ac:chgData name="Kimberly Perron" userId="5cbb7adf-dcc5-4575-b463-4d02fa27e6cf" providerId="ADAL" clId="{24072560-43E9-46E2-A00D-382782D89ECA}" dt="2023-08-08T00:26:01.193" v="363" actId="255"/>
          <ac:spMkLst>
            <pc:docMk/>
            <pc:sldMk cId="1768175497" sldId="435"/>
            <ac:spMk id="5" creationId="{B89AD4BB-4F1C-D5DB-5318-ED1495EA8F32}"/>
          </ac:spMkLst>
        </pc:spChg>
      </pc:sldChg>
      <pc:sldChg chg="addSp delSp modSp add mod">
        <pc:chgData name="Kimberly Perron" userId="5cbb7adf-dcc5-4575-b463-4d02fa27e6cf" providerId="ADAL" clId="{24072560-43E9-46E2-A00D-382782D89ECA}" dt="2023-08-08T00:27:40.711" v="381" actId="1440"/>
        <pc:sldMkLst>
          <pc:docMk/>
          <pc:sldMk cId="3137585594" sldId="436"/>
        </pc:sldMkLst>
        <pc:spChg chg="del">
          <ac:chgData name="Kimberly Perron" userId="5cbb7adf-dcc5-4575-b463-4d02fa27e6cf" providerId="ADAL" clId="{24072560-43E9-46E2-A00D-382782D89ECA}" dt="2023-08-08T00:27:25.491" v="377" actId="478"/>
          <ac:spMkLst>
            <pc:docMk/>
            <pc:sldMk cId="3137585594" sldId="436"/>
            <ac:spMk id="5" creationId="{B89AD4BB-4F1C-D5DB-5318-ED1495EA8F32}"/>
          </ac:spMkLst>
        </pc:spChg>
        <pc:spChg chg="mod">
          <ac:chgData name="Kimberly Perron" userId="5cbb7adf-dcc5-4575-b463-4d02fa27e6cf" providerId="ADAL" clId="{24072560-43E9-46E2-A00D-382782D89ECA}" dt="2023-08-08T00:27:20.440" v="376" actId="20577"/>
          <ac:spMkLst>
            <pc:docMk/>
            <pc:sldMk cId="3137585594" sldId="436"/>
            <ac:spMk id="9" creationId="{4B6DD2AD-DD20-A6EB-4CAF-5FC2073501D5}"/>
          </ac:spMkLst>
        </pc:spChg>
        <pc:picChg chg="add mod">
          <ac:chgData name="Kimberly Perron" userId="5cbb7adf-dcc5-4575-b463-4d02fa27e6cf" providerId="ADAL" clId="{24072560-43E9-46E2-A00D-382782D89ECA}" dt="2023-08-08T00:27:40.711" v="381" actId="1440"/>
          <ac:picMkLst>
            <pc:docMk/>
            <pc:sldMk cId="3137585594" sldId="436"/>
            <ac:picMk id="7" creationId="{70781E8D-3972-1ECF-5774-850EDAAED27C}"/>
          </ac:picMkLst>
        </pc:picChg>
      </pc:sldChg>
      <pc:sldChg chg="modSp add mod ord">
        <pc:chgData name="Kimberly Perron" userId="5cbb7adf-dcc5-4575-b463-4d02fa27e6cf" providerId="ADAL" clId="{24072560-43E9-46E2-A00D-382782D89ECA}" dt="2023-08-08T00:40:52.078" v="1091" actId="20577"/>
        <pc:sldMkLst>
          <pc:docMk/>
          <pc:sldMk cId="3180194644" sldId="437"/>
        </pc:sldMkLst>
        <pc:spChg chg="mod">
          <ac:chgData name="Kimberly Perron" userId="5cbb7adf-dcc5-4575-b463-4d02fa27e6cf" providerId="ADAL" clId="{24072560-43E9-46E2-A00D-382782D89ECA}" dt="2023-08-08T00:40:52.078" v="1091" actId="20577"/>
          <ac:spMkLst>
            <pc:docMk/>
            <pc:sldMk cId="3180194644" sldId="437"/>
            <ac:spMk id="5" creationId="{B89AD4BB-4F1C-D5DB-5318-ED1495EA8F32}"/>
          </ac:spMkLst>
        </pc:spChg>
        <pc:spChg chg="mod">
          <ac:chgData name="Kimberly Perron" userId="5cbb7adf-dcc5-4575-b463-4d02fa27e6cf" providerId="ADAL" clId="{24072560-43E9-46E2-A00D-382782D89ECA}" dt="2023-08-08T00:28:13.518" v="396" actId="20577"/>
          <ac:spMkLst>
            <pc:docMk/>
            <pc:sldMk cId="3180194644" sldId="437"/>
            <ac:spMk id="9" creationId="{4B6DD2AD-DD20-A6EB-4CAF-5FC2073501D5}"/>
          </ac:spMkLst>
        </pc:spChg>
      </pc:sldChg>
      <pc:sldChg chg="modSp add mod ord">
        <pc:chgData name="Kimberly Perron" userId="5cbb7adf-dcc5-4575-b463-4d02fa27e6cf" providerId="ADAL" clId="{24072560-43E9-46E2-A00D-382782D89ECA}" dt="2023-08-08T00:31:24.055" v="807" actId="20577"/>
        <pc:sldMkLst>
          <pc:docMk/>
          <pc:sldMk cId="3590274951" sldId="438"/>
        </pc:sldMkLst>
        <pc:spChg chg="mod">
          <ac:chgData name="Kimberly Perron" userId="5cbb7adf-dcc5-4575-b463-4d02fa27e6cf" providerId="ADAL" clId="{24072560-43E9-46E2-A00D-382782D89ECA}" dt="2023-08-08T00:31:24.055" v="807" actId="20577"/>
          <ac:spMkLst>
            <pc:docMk/>
            <pc:sldMk cId="3590274951" sldId="438"/>
            <ac:spMk id="5" creationId="{81561FA0-D1C7-AD45-AAC2-3F6D42047E16}"/>
          </ac:spMkLst>
        </pc:spChg>
        <pc:spChg chg="mod">
          <ac:chgData name="Kimberly Perron" userId="5cbb7adf-dcc5-4575-b463-4d02fa27e6cf" providerId="ADAL" clId="{24072560-43E9-46E2-A00D-382782D89ECA}" dt="2023-08-08T00:29:31.667" v="510" actId="20577"/>
          <ac:spMkLst>
            <pc:docMk/>
            <pc:sldMk cId="3590274951" sldId="438"/>
            <ac:spMk id="9" creationId="{4B6DD2AD-DD20-A6EB-4CAF-5FC2073501D5}"/>
          </ac:spMkLst>
        </pc:spChg>
      </pc:sldChg>
      <pc:sldChg chg="addSp delSp modSp add mod ord">
        <pc:chgData name="Kimberly Perron" userId="5cbb7adf-dcc5-4575-b463-4d02fa27e6cf" providerId="ADAL" clId="{24072560-43E9-46E2-A00D-382782D89ECA}" dt="2023-08-08T01:06:36.364" v="1227" actId="14100"/>
        <pc:sldMkLst>
          <pc:docMk/>
          <pc:sldMk cId="2181990901" sldId="439"/>
        </pc:sldMkLst>
        <pc:spChg chg="mod">
          <ac:chgData name="Kimberly Perron" userId="5cbb7adf-dcc5-4575-b463-4d02fa27e6cf" providerId="ADAL" clId="{24072560-43E9-46E2-A00D-382782D89ECA}" dt="2023-08-08T01:03:01.523" v="1102" actId="20577"/>
          <ac:spMkLst>
            <pc:docMk/>
            <pc:sldMk cId="2181990901" sldId="439"/>
            <ac:spMk id="9" creationId="{4B6DD2AD-DD20-A6EB-4CAF-5FC2073501D5}"/>
          </ac:spMkLst>
        </pc:spChg>
        <pc:spChg chg="add mod">
          <ac:chgData name="Kimberly Perron" userId="5cbb7adf-dcc5-4575-b463-4d02fa27e6cf" providerId="ADAL" clId="{24072560-43E9-46E2-A00D-382782D89ECA}" dt="2023-08-08T01:04:51.781" v="1213" actId="20577"/>
          <ac:spMkLst>
            <pc:docMk/>
            <pc:sldMk cId="2181990901" sldId="439"/>
            <ac:spMk id="10" creationId="{D8843FA5-70E3-6A9D-1BAA-AF0B18E5040F}"/>
          </ac:spMkLst>
        </pc:spChg>
        <pc:spChg chg="add mod">
          <ac:chgData name="Kimberly Perron" userId="5cbb7adf-dcc5-4575-b463-4d02fa27e6cf" providerId="ADAL" clId="{24072560-43E9-46E2-A00D-382782D89ECA}" dt="2023-08-08T01:06:36.364" v="1227" actId="14100"/>
          <ac:spMkLst>
            <pc:docMk/>
            <pc:sldMk cId="2181990901" sldId="439"/>
            <ac:spMk id="11" creationId="{12274894-F0A9-041E-E1C4-359E3F7EF1BE}"/>
          </ac:spMkLst>
        </pc:spChg>
        <pc:picChg chg="add mod">
          <ac:chgData name="Kimberly Perron" userId="5cbb7adf-dcc5-4575-b463-4d02fa27e6cf" providerId="ADAL" clId="{24072560-43E9-46E2-A00D-382782D89ECA}" dt="2023-08-08T01:06:16.493" v="1224" actId="1076"/>
          <ac:picMkLst>
            <pc:docMk/>
            <pc:sldMk cId="2181990901" sldId="439"/>
            <ac:picMk id="6" creationId="{7B07F16D-0E87-3ABB-55AA-D41B7B99D24A}"/>
          </ac:picMkLst>
        </pc:picChg>
        <pc:picChg chg="del">
          <ac:chgData name="Kimberly Perron" userId="5cbb7adf-dcc5-4575-b463-4d02fa27e6cf" providerId="ADAL" clId="{24072560-43E9-46E2-A00D-382782D89ECA}" dt="2023-08-08T01:03:04.017" v="1103" actId="478"/>
          <ac:picMkLst>
            <pc:docMk/>
            <pc:sldMk cId="2181990901" sldId="439"/>
            <ac:picMk id="7" creationId="{70781E8D-3972-1ECF-5774-850EDAAED27C}"/>
          </ac:picMkLst>
        </pc:picChg>
        <pc:cxnChg chg="add mod">
          <ac:chgData name="Kimberly Perron" userId="5cbb7adf-dcc5-4575-b463-4d02fa27e6cf" providerId="ADAL" clId="{24072560-43E9-46E2-A00D-382782D89ECA}" dt="2023-08-08T01:06:11.016" v="1223" actId="14100"/>
          <ac:cxnSpMkLst>
            <pc:docMk/>
            <pc:sldMk cId="2181990901" sldId="439"/>
            <ac:cxnSpMk id="13" creationId="{AD5FA6C6-CA4D-7F16-A487-18F554116E82}"/>
          </ac:cxnSpMkLst>
        </pc:cxnChg>
      </pc:sldChg>
      <pc:sldChg chg="addSp delSp modSp add mod ord">
        <pc:chgData name="Kimberly Perron" userId="5cbb7adf-dcc5-4575-b463-4d02fa27e6cf" providerId="ADAL" clId="{24072560-43E9-46E2-A00D-382782D89ECA}" dt="2023-08-08T01:08:23.978" v="1247" actId="1076"/>
        <pc:sldMkLst>
          <pc:docMk/>
          <pc:sldMk cId="2450126767" sldId="440"/>
        </pc:sldMkLst>
        <pc:spChg chg="mod">
          <ac:chgData name="Kimberly Perron" userId="5cbb7adf-dcc5-4575-b463-4d02fa27e6cf" providerId="ADAL" clId="{24072560-43E9-46E2-A00D-382782D89ECA}" dt="2023-08-08T01:08:23.978" v="1247" actId="1076"/>
          <ac:spMkLst>
            <pc:docMk/>
            <pc:sldMk cId="2450126767" sldId="440"/>
            <ac:spMk id="5" creationId="{6AC53814-60A6-3F04-AC18-8325F79A4756}"/>
          </ac:spMkLst>
        </pc:spChg>
        <pc:spChg chg="del">
          <ac:chgData name="Kimberly Perron" userId="5cbb7adf-dcc5-4575-b463-4d02fa27e6cf" providerId="ADAL" clId="{24072560-43E9-46E2-A00D-382782D89ECA}" dt="2023-08-08T01:07:49.321" v="1242" actId="478"/>
          <ac:spMkLst>
            <pc:docMk/>
            <pc:sldMk cId="2450126767" sldId="440"/>
            <ac:spMk id="10" creationId="{CAAB3171-DEE8-A8CC-306D-A245B6F46AAD}"/>
          </ac:spMkLst>
        </pc:spChg>
        <pc:picChg chg="add mod">
          <ac:chgData name="Kimberly Perron" userId="5cbb7adf-dcc5-4575-b463-4d02fa27e6cf" providerId="ADAL" clId="{24072560-43E9-46E2-A00D-382782D89ECA}" dt="2023-08-08T01:08:11.173" v="1245"/>
          <ac:picMkLst>
            <pc:docMk/>
            <pc:sldMk cId="2450126767" sldId="440"/>
            <ac:picMk id="2" creationId="{B252AECD-67EF-F7AD-694C-CACA28F379CA}"/>
          </ac:picMkLst>
        </pc:picChg>
        <pc:picChg chg="del mod">
          <ac:chgData name="Kimberly Perron" userId="5cbb7adf-dcc5-4575-b463-4d02fa27e6cf" providerId="ADAL" clId="{24072560-43E9-46E2-A00D-382782D89ECA}" dt="2023-08-08T01:08:00.929" v="1244" actId="478"/>
          <ac:picMkLst>
            <pc:docMk/>
            <pc:sldMk cId="2450126767" sldId="440"/>
            <ac:picMk id="8" creationId="{4EA8E8F1-228F-9D45-52BB-DAF4D6E64E67}"/>
          </ac:picMkLst>
        </pc:picChg>
      </pc:sldChg>
      <pc:sldChg chg="delSp modSp add mod">
        <pc:chgData name="Kimberly Perron" userId="5cbb7adf-dcc5-4575-b463-4d02fa27e6cf" providerId="ADAL" clId="{24072560-43E9-46E2-A00D-382782D89ECA}" dt="2023-08-08T01:33:41.569" v="1415" actId="313"/>
        <pc:sldMkLst>
          <pc:docMk/>
          <pc:sldMk cId="3907357198" sldId="441"/>
        </pc:sldMkLst>
        <pc:spChg chg="mod">
          <ac:chgData name="Kimberly Perron" userId="5cbb7adf-dcc5-4575-b463-4d02fa27e6cf" providerId="ADAL" clId="{24072560-43E9-46E2-A00D-382782D89ECA}" dt="2023-08-08T01:33:41.569" v="1415" actId="313"/>
          <ac:spMkLst>
            <pc:docMk/>
            <pc:sldMk cId="3907357198" sldId="441"/>
            <ac:spMk id="5" creationId="{81561FA0-D1C7-AD45-AAC2-3F6D42047E16}"/>
          </ac:spMkLst>
        </pc:spChg>
        <pc:spChg chg="mod">
          <ac:chgData name="Kimberly Perron" userId="5cbb7adf-dcc5-4575-b463-4d02fa27e6cf" providerId="ADAL" clId="{24072560-43E9-46E2-A00D-382782D89ECA}" dt="2023-08-08T01:09:53.309" v="1260" actId="20577"/>
          <ac:spMkLst>
            <pc:docMk/>
            <pc:sldMk cId="3907357198" sldId="441"/>
            <ac:spMk id="9" creationId="{4B6DD2AD-DD20-A6EB-4CAF-5FC2073501D5}"/>
          </ac:spMkLst>
        </pc:spChg>
        <pc:picChg chg="del mod">
          <ac:chgData name="Kimberly Perron" userId="5cbb7adf-dcc5-4575-b463-4d02fa27e6cf" providerId="ADAL" clId="{24072560-43E9-46E2-A00D-382782D89ECA}" dt="2023-08-08T01:09:44.400" v="1253" actId="478"/>
          <ac:picMkLst>
            <pc:docMk/>
            <pc:sldMk cId="3907357198" sldId="441"/>
            <ac:picMk id="7" creationId="{DAA49322-AD33-8DD2-4EED-79BDE9D34952}"/>
          </ac:picMkLst>
        </pc:picChg>
      </pc:sldChg>
      <pc:sldChg chg="modSp add mod">
        <pc:chgData name="Kimberly Perron" userId="5cbb7adf-dcc5-4575-b463-4d02fa27e6cf" providerId="ADAL" clId="{24072560-43E9-46E2-A00D-382782D89ECA}" dt="2023-08-08T01:36:45.338" v="1626" actId="20577"/>
        <pc:sldMkLst>
          <pc:docMk/>
          <pc:sldMk cId="1975234333" sldId="442"/>
        </pc:sldMkLst>
        <pc:spChg chg="mod">
          <ac:chgData name="Kimberly Perron" userId="5cbb7adf-dcc5-4575-b463-4d02fa27e6cf" providerId="ADAL" clId="{24072560-43E9-46E2-A00D-382782D89ECA}" dt="2023-08-08T01:36:45.338" v="1626" actId="20577"/>
          <ac:spMkLst>
            <pc:docMk/>
            <pc:sldMk cId="1975234333" sldId="442"/>
            <ac:spMk id="5" creationId="{81561FA0-D1C7-AD45-AAC2-3F6D42047E16}"/>
          </ac:spMkLst>
        </pc:spChg>
        <pc:spChg chg="mod">
          <ac:chgData name="Kimberly Perron" userId="5cbb7adf-dcc5-4575-b463-4d02fa27e6cf" providerId="ADAL" clId="{24072560-43E9-46E2-A00D-382782D89ECA}" dt="2023-08-08T01:34:24.022" v="1426" actId="20577"/>
          <ac:spMkLst>
            <pc:docMk/>
            <pc:sldMk cId="1975234333" sldId="442"/>
            <ac:spMk id="9" creationId="{4B6DD2AD-DD20-A6EB-4CAF-5FC2073501D5}"/>
          </ac:spMkLst>
        </pc:spChg>
      </pc:sldChg>
      <pc:sldChg chg="modSp add mod">
        <pc:chgData name="Kimberly Perron" userId="5cbb7adf-dcc5-4575-b463-4d02fa27e6cf" providerId="ADAL" clId="{24072560-43E9-46E2-A00D-382782D89ECA}" dt="2023-08-08T01:44:50.885" v="1902" actId="1076"/>
        <pc:sldMkLst>
          <pc:docMk/>
          <pc:sldMk cId="1959610349" sldId="443"/>
        </pc:sldMkLst>
        <pc:spChg chg="mod">
          <ac:chgData name="Kimberly Perron" userId="5cbb7adf-dcc5-4575-b463-4d02fa27e6cf" providerId="ADAL" clId="{24072560-43E9-46E2-A00D-382782D89ECA}" dt="2023-08-08T01:44:50.885" v="1902" actId="1076"/>
          <ac:spMkLst>
            <pc:docMk/>
            <pc:sldMk cId="1959610349" sldId="443"/>
            <ac:spMk id="5" creationId="{81561FA0-D1C7-AD45-AAC2-3F6D42047E16}"/>
          </ac:spMkLst>
        </pc:spChg>
        <pc:spChg chg="mod">
          <ac:chgData name="Kimberly Perron" userId="5cbb7adf-dcc5-4575-b463-4d02fa27e6cf" providerId="ADAL" clId="{24072560-43E9-46E2-A00D-382782D89ECA}" dt="2023-08-08T01:37:10.586" v="1661" actId="20577"/>
          <ac:spMkLst>
            <pc:docMk/>
            <pc:sldMk cId="1959610349" sldId="443"/>
            <ac:spMk id="9" creationId="{4B6DD2AD-DD20-A6EB-4CAF-5FC2073501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FF2C-C8C5-9735-4E35-6F9967B8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2BA0D-6486-F4DE-8496-8408A6ED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D534-4815-808F-4042-23DBFA7A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47424-4C4C-82D5-91B9-D79F048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508B-6C93-D70C-9CC5-B683AD8C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2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A3D7-7A72-77F7-6B22-04CF0AAB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F292-59EE-73DF-B4AD-754E7C5B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846A-146C-6748-6168-1168C8B6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12CB-96FA-8EAF-357F-17C5143B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91C0-DB77-7ACF-B449-3D2B8EA8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1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EBE3-07B5-9647-EC04-0B70946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58339-A007-F750-0C79-91478FE6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9EA1-22F8-6309-0603-0668F516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51FD-17F5-F54F-0CCD-BFE9057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6519-CD6A-A6C6-49CC-C30DB43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9FC9-42BC-9D9D-DCDB-05AF28E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C35-7213-4B94-0169-F0F1A047B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040CA-9288-BAFB-B362-5C6F58FE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9A0DC-C6BC-66C8-9DFC-DBC27D6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3312-9DBD-73CC-D7FE-DAE37969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F967B-6135-E4A8-54B0-3DC25AC3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CCE6-6D8A-9D50-83D1-6A88E400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C71CC-858E-6E72-27A5-0D25D3C99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B9737-0237-2AB7-EB76-B1B6A928D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00E6-34BC-A5E9-2762-6F4A19A1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9C32F-82F1-2D89-F698-0F066F9C2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59281-1773-8A7E-CBF4-E3F1E944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AF51E-FADD-B355-0939-94DE1C52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6A149-3FDC-B3FD-1B4C-7311F30F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1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8E76-8BA6-6F60-5794-F63A9CB6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9201A-870F-8C8D-9F1C-08DE9282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CF466-ACC9-CE02-3889-DC753F98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76CC-AD7A-2AB1-343F-6F9D2D2C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11E4D-419A-FB83-6F13-63B808DA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D445F-A890-68A0-398A-A6EE3808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1A16-594E-AA93-E60F-3509B52A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4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BC32-382C-AD36-8E3E-A8697518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B8FB-E3BF-256A-BB00-25A03D9B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0878-A57A-8A0D-4124-ABD15AB4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5B10-8968-996D-39B1-B9F7152B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38E4-BFDE-2F71-965F-41935C4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2B6C4-3B13-815F-0644-05601F2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1E4E-1E6F-79DC-31F0-E69BAD8A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80CC-745E-6203-8E0E-FC46C12B0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239BD-356C-68C3-5031-E353010F2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8566-65CC-D997-A12E-FDD3742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813AE-53CB-24E9-8191-1EFA9AD9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6C257-1F63-D000-37F8-DA0BEC6B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8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7DDC-0F0E-9522-437E-2A2CC660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37D74-D1BB-ED6F-EF4B-A1BA79BC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CBBD-99DB-5C5E-55DD-44E8A07E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B421-D1E1-08EF-7BE1-6CD5D2C3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BDD5-046D-E3DF-9F1F-05BF67E3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2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86933-E60C-3FB9-94AB-AC71AC1FB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2F69-A067-EE10-C251-D8CA81B3F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7E6-93BF-D1AE-9E4D-422C7316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4CF0-BE7F-7535-DCE3-21DD4F18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E431-208B-EBC1-DBF2-7AF5B1FF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1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0E485-9EEF-FC33-4E2D-3788F4F2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CADC-95B6-AB9A-E5C1-D19BFF2E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11D7-9C35-451E-3FDF-E0D865DAD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01E01-21E5-411C-9AB0-9285D947AFA7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9401-0A5F-3D41-E7FF-9D7A9973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15731-26A3-E08D-F38F-0A70E265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955587"/>
            <a:ext cx="8823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72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</a:t>
            </a:r>
          </a:p>
          <a:p>
            <a:pPr algn="ctr">
              <a:spcAft>
                <a:spcPts val="1200"/>
              </a:spcAft>
            </a:pPr>
            <a:r>
              <a:rPr lang="en-US" sz="7200" dirty="0">
                <a:solidFill>
                  <a:srgbClr val="252260"/>
                </a:solidFill>
                <a:latin typeface="Century Gothic" panose="020B0502020202020204" pitchFamily="34" charset="0"/>
              </a:rPr>
              <a:t>Annual Plan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ont, graphics, logo&#10;&#10;Description automatically generated">
            <a:extLst>
              <a:ext uri="{FF2B5EF4-FFF2-40B4-BE49-F238E27FC236}">
                <a16:creationId xmlns:a16="http://schemas.microsoft.com/office/drawing/2014/main" id="{4EA8E8F1-228F-9D45-52BB-DAF4D6E6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84" y="4394308"/>
            <a:ext cx="4455432" cy="747213"/>
          </a:xfrm>
          <a:prstGeom prst="rect">
            <a:avLst/>
          </a:prstGeom>
        </p:spPr>
      </p:pic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B3171-DEE8-A8CC-306D-A245B6F46AAD}"/>
              </a:ext>
            </a:extLst>
          </p:cNvPr>
          <p:cNvSpPr txBox="1"/>
          <p:nvPr/>
        </p:nvSpPr>
        <p:spPr>
          <a:xfrm>
            <a:off x="3200400" y="5152213"/>
            <a:ext cx="579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Presented by Kimberly Perron, MBA</a:t>
            </a:r>
          </a:p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Customer Success Instructor</a:t>
            </a:r>
          </a:p>
        </p:txBody>
      </p:sp>
    </p:spTree>
    <p:extLst>
      <p:ext uri="{BB962C8B-B14F-4D97-AF65-F5344CB8AC3E}">
        <p14:creationId xmlns:p14="http://schemas.microsoft.com/office/powerpoint/2010/main" val="65549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E5CF60B0-58B9-3493-DD8C-0B943C3A9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957" y="482487"/>
            <a:ext cx="2408604" cy="2202547"/>
          </a:xfrm>
          <a:prstGeom prst="rect">
            <a:avLst/>
          </a:prstGeom>
        </p:spPr>
      </p:pic>
      <p:pic>
        <p:nvPicPr>
          <p:cNvPr id="11" name="Picture 10" descr="Shape, arrow">
            <a:extLst>
              <a:ext uri="{FF2B5EF4-FFF2-40B4-BE49-F238E27FC236}">
                <a16:creationId xmlns:a16="http://schemas.microsoft.com/office/drawing/2014/main" id="{7E4DB932-E242-6477-1D88-E44CFAF570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101" y="190544"/>
            <a:ext cx="2433499" cy="2671596"/>
          </a:xfrm>
          <a:prstGeom prst="rect">
            <a:avLst/>
          </a:prstGeom>
        </p:spPr>
      </p:pic>
      <p:pic>
        <p:nvPicPr>
          <p:cNvPr id="13" name="Picture 1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F56B8219-4C44-99F1-6E38-CCF7694BC8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957" y="3347326"/>
            <a:ext cx="2657947" cy="2657947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47CD0B1-82B8-0202-3131-603B946FE22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5015" y="323984"/>
            <a:ext cx="2220058" cy="2272144"/>
          </a:xfrm>
          <a:prstGeom prst="rect">
            <a:avLst/>
          </a:prstGeom>
        </p:spPr>
      </p:pic>
      <p:pic>
        <p:nvPicPr>
          <p:cNvPr id="21" name="Picture 20" descr="Logo, company name">
            <a:extLst>
              <a:ext uri="{FF2B5EF4-FFF2-40B4-BE49-F238E27FC236}">
                <a16:creationId xmlns:a16="http://schemas.microsoft.com/office/drawing/2014/main" id="{AD1BA41B-DD7E-11DA-E425-2971051344C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174" y="426943"/>
            <a:ext cx="2446481" cy="2446481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BED77748-F8A7-8454-CD17-C32C1302C56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6045" y="2507749"/>
            <a:ext cx="3161662" cy="1028230"/>
          </a:xfrm>
          <a:prstGeom prst="rect">
            <a:avLst/>
          </a:prstGeom>
        </p:spPr>
      </p:pic>
      <p:pic>
        <p:nvPicPr>
          <p:cNvPr id="17" name="Picture 16" descr="A picture containing icon">
            <a:extLst>
              <a:ext uri="{FF2B5EF4-FFF2-40B4-BE49-F238E27FC236}">
                <a16:creationId xmlns:a16="http://schemas.microsoft.com/office/drawing/2014/main" id="{EF62F44A-4299-CD17-1DFB-1D080444411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6854" y="3461720"/>
            <a:ext cx="2307008" cy="2281840"/>
          </a:xfrm>
          <a:prstGeom prst="rect">
            <a:avLst/>
          </a:prstGeom>
        </p:spPr>
      </p:pic>
      <p:pic>
        <p:nvPicPr>
          <p:cNvPr id="19" name="Picture 18" descr="Graphical user interface">
            <a:extLst>
              <a:ext uri="{FF2B5EF4-FFF2-40B4-BE49-F238E27FC236}">
                <a16:creationId xmlns:a16="http://schemas.microsoft.com/office/drawing/2014/main" id="{1BF34E46-800E-B6A0-EFB8-D8E95AA1703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5146" y="3178110"/>
            <a:ext cx="2849060" cy="2849060"/>
          </a:xfrm>
          <a:prstGeom prst="rect">
            <a:avLst/>
          </a:prstGeom>
        </p:spPr>
      </p:pic>
      <p:pic>
        <p:nvPicPr>
          <p:cNvPr id="25" name="Picture 24" descr="Diagram">
            <a:extLst>
              <a:ext uri="{FF2B5EF4-FFF2-40B4-BE49-F238E27FC236}">
                <a16:creationId xmlns:a16="http://schemas.microsoft.com/office/drawing/2014/main" id="{E27B9AB4-3AE3-112E-641F-6CCE15B03EA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7643" y="3525433"/>
            <a:ext cx="2433499" cy="225966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A15D4-10DD-D07C-29C9-CC07CEE417BE}"/>
              </a:ext>
            </a:extLst>
          </p:cNvPr>
          <p:cNvGrpSpPr/>
          <p:nvPr/>
        </p:nvGrpSpPr>
        <p:grpSpPr>
          <a:xfrm>
            <a:off x="0" y="5710841"/>
            <a:ext cx="12192000" cy="1147160"/>
            <a:chOff x="0" y="5710841"/>
            <a:chExt cx="12192000" cy="1147160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FDC0A2DE-309B-04DC-271C-6006EABA27D0}"/>
                </a:ext>
              </a:extLst>
            </p:cNvPr>
            <p:cNvSpPr/>
            <p:nvPr/>
          </p:nvSpPr>
          <p:spPr>
            <a:xfrm>
              <a:off x="0" y="5710841"/>
              <a:ext cx="12192000" cy="114715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4EE030-C94D-E761-20B0-DC8B874A5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4667440" y="6125799"/>
              <a:ext cx="2722598" cy="732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06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Has your organization created an annual fundraising plan in the past, and if so, how did that go?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No, this would be the first time we had a formal plan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we’ve had a plan, but didn’t really use it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we’ve had a plan, but we didn’t come close to any of our goals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we’ve had a plan, but we’d like to improve our process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we’ve had a plan and followed it with great success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Annual Fundraising Plans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6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76518" y="1633040"/>
            <a:ext cx="10667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Missing strategic plan and objectives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Lofty goals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Lack of action steps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No analysis of </a:t>
            </a:r>
            <a:r>
              <a:rPr lang="en-US" sz="4000">
                <a:solidFill>
                  <a:srgbClr val="252260"/>
                </a:solidFill>
                <a:latin typeface="Century Gothic" panose="020B0502020202020204" pitchFamily="34" charset="0"/>
              </a:rPr>
              <a:t>previous results</a:t>
            </a:r>
            <a:endParaRPr lang="en-US" sz="4000" dirty="0">
              <a:solidFill>
                <a:srgbClr val="252260"/>
              </a:solidFill>
              <a:latin typeface="Century Gothic" panose="020B0502020202020204" pitchFamily="34" charset="0"/>
            </a:endParaRP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No schedule or accountability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Annual Plans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What went wrong?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9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40659" y="1452581"/>
            <a:ext cx="108652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Prioritize needs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Assigns 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Team alignment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Focuses attention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Evaluate results for future improvement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Annual Plans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Benefit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4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40659" y="1685663"/>
            <a:ext cx="56507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Impact Goal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Goals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Operating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Capital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KPI Targets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Annual Goals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 descr="A screen shot of a report&#10;&#10;Description automatically generated">
            <a:extLst>
              <a:ext uri="{FF2B5EF4-FFF2-40B4-BE49-F238E27FC236}">
                <a16:creationId xmlns:a16="http://schemas.microsoft.com/office/drawing/2014/main" id="{DAA49322-AD33-8DD2-4EED-79BDE9D34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228" y="1565980"/>
            <a:ext cx="5859901" cy="3620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786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4460" y="1463943"/>
            <a:ext cx="104473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Clear objective everyone can rally around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Easily demonstrates positive influence on community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Measurable, specific, simple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Stretch but achievable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Impact Goal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35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4460" y="1463943"/>
            <a:ext cx="104473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Operating and Capital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Based on objectives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Projections for demand/need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usually focuses on revenue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Don’t lose sight of expenses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Financial Goals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234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4460" y="1297389"/>
            <a:ext cx="1044731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Chose a few related to objectives and revenue 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Evaluate previous KPIs and direction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the “whys”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Utilize your CRM to generate reports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frequency of reports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Key Performance Indicators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61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40659" y="1622016"/>
            <a:ext cx="56507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Target month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Method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Activities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Responsible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Target 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Implementation of Objectives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table of objective goals&#10;&#10;Description automatically generated with medium confidence">
            <a:extLst>
              <a:ext uri="{FF2B5EF4-FFF2-40B4-BE49-F238E27FC236}">
                <a16:creationId xmlns:a16="http://schemas.microsoft.com/office/drawing/2014/main" id="{96FA6FC6-176D-CFC0-A7C5-83344D957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60" y="1330714"/>
            <a:ext cx="5650781" cy="4368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306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416169"/>
            <a:ext cx="470647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Source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Constituent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Current vs. New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Delta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Sources of Revenue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4" name="Picture 13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4AB9CC2D-BB26-9F49-32B6-16873C97D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667" y="1264686"/>
            <a:ext cx="7038081" cy="439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094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416169"/>
            <a:ext cx="444682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Large deltas?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Is goal reasonable?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Sources of Revenue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4" name="Picture 13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4AB9CC2D-BB26-9F49-32B6-16873C97D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667" y="1264686"/>
            <a:ext cx="7038081" cy="439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DB80FBB-BA9F-7E81-6AE9-62243665CC97}"/>
              </a:ext>
            </a:extLst>
          </p:cNvPr>
          <p:cNvSpPr/>
          <p:nvPr/>
        </p:nvSpPr>
        <p:spPr>
          <a:xfrm>
            <a:off x="10972800" y="2505273"/>
            <a:ext cx="699247" cy="36755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F58FAA-5D16-A3F9-E0A2-0E1CE1DD28E4}"/>
              </a:ext>
            </a:extLst>
          </p:cNvPr>
          <p:cNvSpPr/>
          <p:nvPr/>
        </p:nvSpPr>
        <p:spPr>
          <a:xfrm>
            <a:off x="11044519" y="3985175"/>
            <a:ext cx="663388" cy="74819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99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416169"/>
            <a:ext cx="47064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Projected Amounts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Target Dates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Capital Projects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 descr="A screenshot of a project&#10;&#10;Description automatically generated">
            <a:extLst>
              <a:ext uri="{FF2B5EF4-FFF2-40B4-BE49-F238E27FC236}">
                <a16:creationId xmlns:a16="http://schemas.microsoft.com/office/drawing/2014/main" id="{CA87FAB4-26CB-B415-E823-239B668C1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308" y="1266993"/>
            <a:ext cx="6856952" cy="4174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5147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134495"/>
            <a:ext cx="470647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Month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Method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Activities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Responsible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Date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Can add analytics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Action Plans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blue and red plan with white text&#10;&#10;Description automatically generated">
            <a:extLst>
              <a:ext uri="{FF2B5EF4-FFF2-40B4-BE49-F238E27FC236}">
                <a16:creationId xmlns:a16="http://schemas.microsoft.com/office/drawing/2014/main" id="{3C778A3F-C8A6-7C3C-3B26-C2360033E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837" y="1461708"/>
            <a:ext cx="6937292" cy="3934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3275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What is your favorite “tip” for improving direct mail annual and special appeal response rates?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Making the donor the hero – using “you” instead of “we”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Adding a great P.S. to the signature block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Adding stories from clients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Using a live stamp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Including a reply envelope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Hand addressed envelope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endParaRPr lang="en-US" sz="2800" dirty="0">
              <a:solidFill>
                <a:srgbClr val="252260"/>
              </a:solidFill>
              <a:latin typeface="Century Gothic" panose="020B0502020202020204" pitchFamily="34" charset="0"/>
            </a:endParaRP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endParaRPr lang="en-US" sz="28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Improving Response Rates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96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134495"/>
            <a:ext cx="112464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Making the donor the hero – using “you” instead of “we”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Adding a great P.S. to the signature block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Adding stories from clients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Using a live stamp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Including a reply envelope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Hand addressed envelope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Personalize your message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Update donors throughout the year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Try new channels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Add videos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Follow up with phone call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1100718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Improving response rates – Make a plan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50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11430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Century Gothic" panose="020B0502020202020204" pitchFamily="34" charset="0"/>
              </a:rPr>
              <a:t>Improving Response Rates – Make a plan</a:t>
            </a:r>
            <a:endParaRPr lang="en-US" sz="40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1ECFF-6352-EA75-3A12-547B7D7E2576}"/>
              </a:ext>
            </a:extLst>
          </p:cNvPr>
          <p:cNvSpPr txBox="1"/>
          <p:nvPr/>
        </p:nvSpPr>
        <p:spPr>
          <a:xfrm>
            <a:off x="261366" y="1134495"/>
            <a:ext cx="1193063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Evaluate previous response rates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Review your list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Survey to identify their “why”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Include your impact goal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Focus on impact (more than outcomes)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Don’t forget the Call To Action (CTA)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Use multiple tactics – letters, emails, texts, social</a:t>
            </a:r>
          </a:p>
        </p:txBody>
      </p:sp>
    </p:spTree>
    <p:extLst>
      <p:ext uri="{BB962C8B-B14F-4D97-AF65-F5344CB8AC3E}">
        <p14:creationId xmlns:p14="http://schemas.microsoft.com/office/powerpoint/2010/main" val="215187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134495"/>
            <a:ext cx="470647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Choose your channel (surveys)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Use channel analytics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your target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Online Giving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F64BA1F-E3FC-80F7-A960-D4E3DCF58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858" y="1727154"/>
            <a:ext cx="6740775" cy="25199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828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1134495"/>
            <a:ext cx="116437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Know your audience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Establish purpose &amp; goals (communications plan)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Mobile Optimized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Maintain branding – eye catching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Impact goal &amp; CTA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Online Giving – Improving Results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70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Has your organization tried Peer to Peer Fundraising?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No, it’s not on our radar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No, but we are thinking about it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Yes, but it wasn’t as successful as we had hoped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Yes, it is one of our annual events</a:t>
            </a:r>
            <a:endParaRPr lang="en-US" sz="28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Peer to Peer Campaigns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68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22273" y="1564816"/>
            <a:ext cx="47064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Great for engagement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Needs a PM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Awards event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Peer to Peer Campaigns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2" name="Picture 11" descr="A screen shot of a list&#10;&#10;Description automatically generated">
            <a:extLst>
              <a:ext uri="{FF2B5EF4-FFF2-40B4-BE49-F238E27FC236}">
                <a16:creationId xmlns:a16="http://schemas.microsoft.com/office/drawing/2014/main" id="{38F60031-4223-A3E2-ED60-F1C0239DA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469" y="1716843"/>
            <a:ext cx="6787905" cy="25149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2237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61367" y="968980"/>
            <a:ext cx="1164376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Color Run/Walk/Ride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Celebrity Chef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Dance Competitions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Christmas Tree Festivals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Bowling/Kickball/Volleyball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Park/Beach/Road Clean Up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Trivia Nights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Adopt-An-Animal/Classroom/Playground/Library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Peer to Peer Campaign Ideas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089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71931" y="3688367"/>
            <a:ext cx="110474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Must have!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Part of donor engagement program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Can be simple or complex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Planned Giving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861DB542-BDB0-49D4-3193-57607A11A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673" y="1117791"/>
            <a:ext cx="8161905" cy="2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15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08134" y="3772160"/>
            <a:ext cx="112069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Benefits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Visitors     Members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Members     Donors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Memberships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group of members on a white background&#10;&#10;Description automatically generated">
            <a:extLst>
              <a:ext uri="{FF2B5EF4-FFF2-40B4-BE49-F238E27FC236}">
                <a16:creationId xmlns:a16="http://schemas.microsoft.com/office/drawing/2014/main" id="{09E2A6D3-DE36-83DA-7B27-829E944F5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06" y="1137845"/>
            <a:ext cx="8990387" cy="244144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196ED3-C71B-2AC2-111B-BC6A415D2BA5}"/>
              </a:ext>
            </a:extLst>
          </p:cNvPr>
          <p:cNvCxnSpPr/>
          <p:nvPr/>
        </p:nvCxnSpPr>
        <p:spPr>
          <a:xfrm>
            <a:off x="3157870" y="4875403"/>
            <a:ext cx="531628" cy="0"/>
          </a:xfrm>
          <a:prstGeom prst="straightConnector1">
            <a:avLst/>
          </a:prstGeom>
          <a:ln w="57150">
            <a:solidFill>
              <a:srgbClr val="DD40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9D48FA-F61E-8DB9-1AAE-DC664CDCD122}"/>
              </a:ext>
            </a:extLst>
          </p:cNvPr>
          <p:cNvCxnSpPr/>
          <p:nvPr/>
        </p:nvCxnSpPr>
        <p:spPr>
          <a:xfrm>
            <a:off x="3852531" y="5687021"/>
            <a:ext cx="531628" cy="0"/>
          </a:xfrm>
          <a:prstGeom prst="straightConnector1">
            <a:avLst/>
          </a:prstGeom>
          <a:ln w="57150">
            <a:solidFill>
              <a:srgbClr val="DD40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281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Corporate Sponsorships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table with text and numbers&#10;&#10;Description automatically generated">
            <a:extLst>
              <a:ext uri="{FF2B5EF4-FFF2-40B4-BE49-F238E27FC236}">
                <a16:creationId xmlns:a16="http://schemas.microsoft.com/office/drawing/2014/main" id="{8EBBB274-CDF0-73AF-4EEA-92A5C54E1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448" y="1047898"/>
            <a:ext cx="6573412" cy="4941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5581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93264" y="1003964"/>
            <a:ext cx="1139191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Separate from events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organizations that have a natural connection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In-kind vs. Cash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Benefits –Deliverables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Access to your audience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Recognition and publicity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Corporate Sponsorships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153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What percentage of your annual revenue is from grants?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0% - we receive no grant funding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Less than 10%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11 – 30%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30 – 50%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Greater than 50%</a:t>
            </a:r>
            <a:endParaRPr lang="en-US" sz="28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Grants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090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Grants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 descr="A screenshot of a document&#10;&#10;Description automatically generated">
            <a:extLst>
              <a:ext uri="{FF2B5EF4-FFF2-40B4-BE49-F238E27FC236}">
                <a16:creationId xmlns:a16="http://schemas.microsoft.com/office/drawing/2014/main" id="{96DE9479-0BE4-DBC9-182D-3B743F926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862" y="1197027"/>
            <a:ext cx="6786275" cy="4643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0571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Grants – improving results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AD4BB-4F1C-D5DB-5318-ED1495EA8F32}"/>
              </a:ext>
            </a:extLst>
          </p:cNvPr>
          <p:cNvSpPr txBox="1"/>
          <p:nvPr/>
        </p:nvSpPr>
        <p:spPr>
          <a:xfrm>
            <a:off x="293264" y="1003964"/>
            <a:ext cx="1139191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the right funders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Ensure you are ready for funding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Put the time in to prepare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Make it specific not generic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Tell a story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Demonstrate impact (no headcounts!)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Realistic budgeting and timelines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Don’t give up after 1</a:t>
            </a:r>
            <a:r>
              <a:rPr lang="en-US" sz="3200" baseline="30000" dirty="0">
                <a:solidFill>
                  <a:srgbClr val="252260"/>
                </a:solidFill>
                <a:latin typeface="Century Gothic" panose="020B0502020202020204" pitchFamily="34" charset="0"/>
              </a:rPr>
              <a:t>st</a:t>
            </a: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 rejection</a:t>
            </a:r>
          </a:p>
        </p:txBody>
      </p:sp>
    </p:spTree>
    <p:extLst>
      <p:ext uri="{BB962C8B-B14F-4D97-AF65-F5344CB8AC3E}">
        <p14:creationId xmlns:p14="http://schemas.microsoft.com/office/powerpoint/2010/main" val="1297544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Events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 descr="A screenshot of a list of events&#10;&#10;Description automatically generated">
            <a:extLst>
              <a:ext uri="{FF2B5EF4-FFF2-40B4-BE49-F238E27FC236}">
                <a16:creationId xmlns:a16="http://schemas.microsoft.com/office/drawing/2014/main" id="{14626F14-0357-79C3-FC96-8890F9B5B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684" y="1330714"/>
            <a:ext cx="10048631" cy="38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48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Events – evaluating past results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AD4BB-4F1C-D5DB-5318-ED1495EA8F32}"/>
              </a:ext>
            </a:extLst>
          </p:cNvPr>
          <p:cNvSpPr txBox="1"/>
          <p:nvPr/>
        </p:nvSpPr>
        <p:spPr>
          <a:xfrm>
            <a:off x="293264" y="1330714"/>
            <a:ext cx="1139191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Invite response rates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Repeat sponsors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Event attendee feedback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Auctions/Paddle Raise/Raffles/Pulls results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Expenses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80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Events – improving results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AD4BB-4F1C-D5DB-5318-ED1495EA8F32}"/>
              </a:ext>
            </a:extLst>
          </p:cNvPr>
          <p:cNvSpPr txBox="1"/>
          <p:nvPr/>
        </p:nvSpPr>
        <p:spPr>
          <a:xfrm>
            <a:off x="293264" y="1003964"/>
            <a:ext cx="1139191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Sponsorships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Ticket sales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Bundle tickets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Early bird pricing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Table captains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New sources of revenue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Enticing entertainment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Raffles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Auctions</a:t>
            </a:r>
          </a:p>
        </p:txBody>
      </p:sp>
    </p:spTree>
    <p:extLst>
      <p:ext uri="{BB962C8B-B14F-4D97-AF65-F5344CB8AC3E}">
        <p14:creationId xmlns:p14="http://schemas.microsoft.com/office/powerpoint/2010/main" val="1768175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Does your organization have a formal donor engagement or moves management process?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No, we don’t solicit major gifts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Not yet, but we would like to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Yes, but it isn’t producing the results we want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 have a formal process to cultivate donors for major gift fundraising</a:t>
            </a:r>
            <a:endParaRPr lang="en-US" sz="28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Moves Management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74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Major Donors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7" name="Picture 6" descr="A screenshot of a table&#10;&#10;Description automatically generated">
            <a:extLst>
              <a:ext uri="{FF2B5EF4-FFF2-40B4-BE49-F238E27FC236}">
                <a16:creationId xmlns:a16="http://schemas.microsoft.com/office/drawing/2014/main" id="{70781E8D-3972-1ECF-5774-850EDAAED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55" y="1084931"/>
            <a:ext cx="5454290" cy="49676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7585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Major Donors – improving results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AD4BB-4F1C-D5DB-5318-ED1495EA8F32}"/>
              </a:ext>
            </a:extLst>
          </p:cNvPr>
          <p:cNvSpPr txBox="1"/>
          <p:nvPr/>
        </p:nvSpPr>
        <p:spPr>
          <a:xfrm>
            <a:off x="293264" y="1003964"/>
            <a:ext cx="11391917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Implement a donor engagement or moves management process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Engage the board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Evaluate previous responses to proposals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Establish goals – giving pyramid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Use CRM to track stage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Schedule interactions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Connect to donor’s personal mission to customize proposals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194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Calendar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 descr="A calendar with text and numbers&#10;&#10;Description automatically generated">
            <a:extLst>
              <a:ext uri="{FF2B5EF4-FFF2-40B4-BE49-F238E27FC236}">
                <a16:creationId xmlns:a16="http://schemas.microsoft.com/office/drawing/2014/main" id="{7B07F16D-0E87-3ABB-55AA-D41B7B99D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14" y="1045359"/>
            <a:ext cx="4996858" cy="5124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843FA5-70E3-6A9D-1BAA-AF0B18E5040F}"/>
              </a:ext>
            </a:extLst>
          </p:cNvPr>
          <p:cNvSpPr txBox="1"/>
          <p:nvPr/>
        </p:nvSpPr>
        <p:spPr>
          <a:xfrm>
            <a:off x="5593786" y="1172147"/>
            <a:ext cx="60502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Add all milestones &amp; key activities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Can sort by date or responsibility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potential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274894-F0A9-041E-E1C4-359E3F7EF1BE}"/>
              </a:ext>
            </a:extLst>
          </p:cNvPr>
          <p:cNvSpPr/>
          <p:nvPr/>
        </p:nvSpPr>
        <p:spPr>
          <a:xfrm>
            <a:off x="479814" y="3531140"/>
            <a:ext cx="705297" cy="2460796"/>
          </a:xfrm>
          <a:prstGeom prst="ellipse">
            <a:avLst/>
          </a:prstGeom>
          <a:noFill/>
          <a:ln w="57150">
            <a:solidFill>
              <a:srgbClr val="DD40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5FA6C6-CA4D-7F16-A487-18F554116E82}"/>
              </a:ext>
            </a:extLst>
          </p:cNvPr>
          <p:cNvCxnSpPr>
            <a:cxnSpLocks/>
          </p:cNvCxnSpPr>
          <p:nvPr/>
        </p:nvCxnSpPr>
        <p:spPr>
          <a:xfrm flipH="1">
            <a:off x="5476672" y="3803514"/>
            <a:ext cx="1546698" cy="972767"/>
          </a:xfrm>
          <a:prstGeom prst="straightConnector1">
            <a:avLst/>
          </a:prstGeom>
          <a:ln w="57150">
            <a:solidFill>
              <a:srgbClr val="DD40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990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5" y="1040891"/>
            <a:ext cx="11161770" cy="172281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Download the free Fundraising Plan Excel worksheets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Donorview.com/AFPwebinar</a:t>
            </a:r>
            <a:endParaRPr lang="en-US" b="1" dirty="0">
              <a:solidFill>
                <a:srgbClr val="DD4039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0CEC2D-EB88-82D9-5C02-C041D587214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FFEAEAC-2037-743E-7FB7-9B4EF1FA8CA8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B071A1-77DB-7615-D5C2-DEB969E39E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CEE15B-8725-511D-153C-590B508B3BA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4F970-0350-282B-F710-2E27C309A1AD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Next Steps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A24C4-A9A6-E351-2BA7-E65190DBA4DB}"/>
              </a:ext>
            </a:extLst>
          </p:cNvPr>
          <p:cNvSpPr txBox="1"/>
          <p:nvPr/>
        </p:nvSpPr>
        <p:spPr>
          <a:xfrm>
            <a:off x="761999" y="2969055"/>
            <a:ext cx="107935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Register at AFP Global for next webinars</a:t>
            </a:r>
          </a:p>
          <a:p>
            <a:pPr algn="ctr"/>
            <a:endParaRPr lang="en-US" sz="1200" b="1" dirty="0">
              <a:solidFill>
                <a:srgbClr val="252260"/>
              </a:solidFill>
              <a:latin typeface="Century Gothic" panose="020B0502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September 7</a:t>
            </a:r>
            <a:r>
              <a:rPr lang="en-US" sz="2800" b="1" baseline="30000" dirty="0">
                <a:solidFill>
                  <a:srgbClr val="252260"/>
                </a:solidFill>
                <a:latin typeface="Century Gothic" panose="020B0502020202020204" pitchFamily="34" charset="0"/>
              </a:rPr>
              <a:t>th - </a:t>
            </a:r>
            <a:r>
              <a:rPr lang="en-US" sz="2800" b="1" dirty="0">
                <a:solidFill>
                  <a:srgbClr val="DD4039"/>
                </a:solidFill>
                <a:latin typeface="Century Gothic" panose="020B0502020202020204" pitchFamily="34" charset="0"/>
              </a:rPr>
              <a:t>“Improving Your Annual Fundraising Plan with Donor Engagement”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>
              <a:solidFill>
                <a:srgbClr val="DD4039"/>
              </a:solidFill>
              <a:latin typeface="Century Gothic" panose="020B0502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December 6</a:t>
            </a:r>
            <a:r>
              <a:rPr lang="en-US" sz="2800" b="1" baseline="30000" dirty="0">
                <a:solidFill>
                  <a:srgbClr val="252260"/>
                </a:solidFill>
                <a:latin typeface="Century Gothic" panose="020B0502020202020204" pitchFamily="34" charset="0"/>
              </a:rPr>
              <a:t>th</a:t>
            </a: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 - </a:t>
            </a:r>
            <a:r>
              <a:rPr lang="en-US" sz="2800" b="1" dirty="0">
                <a:solidFill>
                  <a:srgbClr val="DD4039"/>
                </a:solidFill>
                <a:latin typeface="Century Gothic" panose="020B0502020202020204" pitchFamily="34" charset="0"/>
              </a:rPr>
              <a:t>“Measuring and Evaluating the Results of your Fundraising Strategy and Plan with KPIs”</a:t>
            </a:r>
          </a:p>
        </p:txBody>
      </p:sp>
    </p:spTree>
    <p:extLst>
      <p:ext uri="{BB962C8B-B14F-4D97-AF65-F5344CB8AC3E}">
        <p14:creationId xmlns:p14="http://schemas.microsoft.com/office/powerpoint/2010/main" val="1880459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2274472"/>
            <a:ext cx="8823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8800" dirty="0">
                <a:solidFill>
                  <a:srgbClr val="252260"/>
                </a:solidFill>
                <a:latin typeface="Century Gothic" panose="020B0502020202020204" pitchFamily="34" charset="0"/>
              </a:rPr>
              <a:t>Questions?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52AECD-67EF-F7AD-694C-CACA28F379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6" b="24288"/>
          <a:stretch/>
        </p:blipFill>
        <p:spPr>
          <a:xfrm>
            <a:off x="9825318" y="6236638"/>
            <a:ext cx="2079811" cy="55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26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D319DC05-FDC1-B73F-951D-DB4E518832B5}"/>
              </a:ext>
            </a:extLst>
          </p:cNvPr>
          <p:cNvSpPr/>
          <p:nvPr/>
        </p:nvSpPr>
        <p:spPr>
          <a:xfrm flipV="1">
            <a:off x="-62142" y="-26632"/>
            <a:ext cx="7368377" cy="6884630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  <a:gd name="connsiteX0" fmla="*/ 0 w 7354734"/>
              <a:gd name="connsiteY0" fmla="*/ 8876 h 6866876"/>
              <a:gd name="connsiteX1" fmla="*/ 7354734 w 7354734"/>
              <a:gd name="connsiteY1" fmla="*/ 0 h 6866876"/>
              <a:gd name="connsiteX2" fmla="*/ 6986726 w 7354734"/>
              <a:gd name="connsiteY2" fmla="*/ 6866876 h 6866876"/>
              <a:gd name="connsiteX3" fmla="*/ 0 w 7354734"/>
              <a:gd name="connsiteY3" fmla="*/ 6866876 h 6866876"/>
              <a:gd name="connsiteX4" fmla="*/ 0 w 7354734"/>
              <a:gd name="connsiteY4" fmla="*/ 8876 h 6866876"/>
              <a:gd name="connsiteX0" fmla="*/ 0 w 7119243"/>
              <a:gd name="connsiteY0" fmla="*/ 44387 h 6902387"/>
              <a:gd name="connsiteX1" fmla="*/ 7119243 w 7119243"/>
              <a:gd name="connsiteY1" fmla="*/ 0 h 6902387"/>
              <a:gd name="connsiteX2" fmla="*/ 6986726 w 7119243"/>
              <a:gd name="connsiteY2" fmla="*/ 6902387 h 6902387"/>
              <a:gd name="connsiteX3" fmla="*/ 0 w 7119243"/>
              <a:gd name="connsiteY3" fmla="*/ 6902387 h 6902387"/>
              <a:gd name="connsiteX4" fmla="*/ 0 w 7119243"/>
              <a:gd name="connsiteY4" fmla="*/ 44387 h 6902387"/>
              <a:gd name="connsiteX0" fmla="*/ 0 w 7147502"/>
              <a:gd name="connsiteY0" fmla="*/ 8876 h 6866876"/>
              <a:gd name="connsiteX1" fmla="*/ 7147502 w 7147502"/>
              <a:gd name="connsiteY1" fmla="*/ 0 h 6866876"/>
              <a:gd name="connsiteX2" fmla="*/ 6986726 w 7147502"/>
              <a:gd name="connsiteY2" fmla="*/ 6866876 h 6866876"/>
              <a:gd name="connsiteX3" fmla="*/ 0 w 7147502"/>
              <a:gd name="connsiteY3" fmla="*/ 6866876 h 6866876"/>
              <a:gd name="connsiteX4" fmla="*/ 0 w 7147502"/>
              <a:gd name="connsiteY4" fmla="*/ 8876 h 6866876"/>
              <a:gd name="connsiteX0" fmla="*/ 0 w 7693197"/>
              <a:gd name="connsiteY0" fmla="*/ 8876 h 6866876"/>
              <a:gd name="connsiteX1" fmla="*/ 7147502 w 7693197"/>
              <a:gd name="connsiteY1" fmla="*/ 0 h 6866876"/>
              <a:gd name="connsiteX2" fmla="*/ 7693197 w 7693197"/>
              <a:gd name="connsiteY2" fmla="*/ 6849121 h 6866876"/>
              <a:gd name="connsiteX3" fmla="*/ 0 w 7693197"/>
              <a:gd name="connsiteY3" fmla="*/ 6866876 h 6866876"/>
              <a:gd name="connsiteX4" fmla="*/ 0 w 7693197"/>
              <a:gd name="connsiteY4" fmla="*/ 8876 h 6866876"/>
              <a:gd name="connsiteX0" fmla="*/ 0 w 8192437"/>
              <a:gd name="connsiteY0" fmla="*/ 8876 h 6866876"/>
              <a:gd name="connsiteX1" fmla="*/ 7147502 w 8192437"/>
              <a:gd name="connsiteY1" fmla="*/ 0 h 6866876"/>
              <a:gd name="connsiteX2" fmla="*/ 8192437 w 8192437"/>
              <a:gd name="connsiteY2" fmla="*/ 6840277 h 6866876"/>
              <a:gd name="connsiteX3" fmla="*/ 0 w 8192437"/>
              <a:gd name="connsiteY3" fmla="*/ 6866876 h 6866876"/>
              <a:gd name="connsiteX4" fmla="*/ 0 w 8192437"/>
              <a:gd name="connsiteY4" fmla="*/ 8876 h 6866876"/>
              <a:gd name="connsiteX0" fmla="*/ 0 w 8192437"/>
              <a:gd name="connsiteY0" fmla="*/ 32 h 6858032"/>
              <a:gd name="connsiteX1" fmla="*/ 6949691 w 8192437"/>
              <a:gd name="connsiteY1" fmla="*/ 0 h 6858032"/>
              <a:gd name="connsiteX2" fmla="*/ 8192437 w 8192437"/>
              <a:gd name="connsiteY2" fmla="*/ 6831433 h 6858032"/>
              <a:gd name="connsiteX3" fmla="*/ 0 w 8192437"/>
              <a:gd name="connsiteY3" fmla="*/ 6858032 h 6858032"/>
              <a:gd name="connsiteX4" fmla="*/ 0 w 8192437"/>
              <a:gd name="connsiteY4" fmla="*/ 32 h 68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2437" h="6858032">
                <a:moveTo>
                  <a:pt x="0" y="32"/>
                </a:moveTo>
                <a:lnTo>
                  <a:pt x="6949691" y="0"/>
                </a:lnTo>
                <a:lnTo>
                  <a:pt x="8192437" y="6831433"/>
                </a:lnTo>
                <a:lnTo>
                  <a:pt x="0" y="6858032"/>
                </a:lnTo>
                <a:lnTo>
                  <a:pt x="0" y="32"/>
                </a:lnTo>
                <a:close/>
              </a:path>
            </a:pathLst>
          </a:custGeom>
          <a:solidFill>
            <a:srgbClr val="DD403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514A7-E9E7-2DBD-2745-24E341276160}"/>
              </a:ext>
            </a:extLst>
          </p:cNvPr>
          <p:cNvSpPr/>
          <p:nvPr/>
        </p:nvSpPr>
        <p:spPr>
          <a:xfrm>
            <a:off x="-62142" y="-13317"/>
            <a:ext cx="7135295" cy="6871317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6726" h="6884632">
                <a:moveTo>
                  <a:pt x="0" y="26632"/>
                </a:moveTo>
                <a:lnTo>
                  <a:pt x="5433133" y="0"/>
                </a:lnTo>
                <a:lnTo>
                  <a:pt x="6986726" y="6884632"/>
                </a:lnTo>
                <a:lnTo>
                  <a:pt x="0" y="6884632"/>
                </a:lnTo>
                <a:lnTo>
                  <a:pt x="0" y="26632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10" y="741447"/>
            <a:ext cx="6639789" cy="1325563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31A6-B52D-4E67-47F7-49384C60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25" y="4560544"/>
            <a:ext cx="4878861" cy="1848053"/>
          </a:xfrm>
        </p:spPr>
        <p:txBody>
          <a:bodyPr>
            <a:noAutofit/>
          </a:bodyPr>
          <a:lstStyle/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 Us: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508-205-0243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sales@donorview.com</a:t>
            </a: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</a:t>
            </a: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Qr code&#10;&#10;Description automatically generated">
            <a:extLst>
              <a:ext uri="{FF2B5EF4-FFF2-40B4-BE49-F238E27FC236}">
                <a16:creationId xmlns:a16="http://schemas.microsoft.com/office/drawing/2014/main" id="{A1375A32-EE66-AE62-3545-E268A6BEC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1865" y="2154865"/>
            <a:ext cx="2548271" cy="2548271"/>
          </a:xfrm>
          <a:prstGeom prst="rect">
            <a:avLst/>
          </a:prstGeom>
          <a:ln>
            <a:solidFill>
              <a:srgbClr val="DD403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52E330-CABC-AE96-4693-CF62BAEF7555}"/>
              </a:ext>
            </a:extLst>
          </p:cNvPr>
          <p:cNvSpPr txBox="1"/>
          <p:nvPr/>
        </p:nvSpPr>
        <p:spPr>
          <a:xfrm>
            <a:off x="7508039" y="1963048"/>
            <a:ext cx="4385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DD4039"/>
                </a:solidFill>
                <a:latin typeface="Century Gothic" panose="020B0502020202020204" pitchFamily="34" charset="0"/>
              </a:rPr>
              <a:t>Request a Demo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04A34-5D04-712E-8764-84E80196CA02}"/>
              </a:ext>
            </a:extLst>
          </p:cNvPr>
          <p:cNvSpPr txBox="1"/>
          <p:nvPr/>
        </p:nvSpPr>
        <p:spPr>
          <a:xfrm>
            <a:off x="7979876" y="4272249"/>
            <a:ext cx="3441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DD4039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DonorView.com/Demo</a:t>
            </a:r>
            <a:endParaRPr lang="en-US" sz="2200" dirty="0">
              <a:solidFill>
                <a:srgbClr val="DD4039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CD18-1163-EE5A-7C53-72742ECA6B62}"/>
              </a:ext>
            </a:extLst>
          </p:cNvPr>
          <p:cNvSpPr txBox="1"/>
          <p:nvPr/>
        </p:nvSpPr>
        <p:spPr>
          <a:xfrm>
            <a:off x="8097466" y="2736502"/>
            <a:ext cx="3206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Scan</a:t>
            </a: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 to visit our website and set</a:t>
            </a:r>
            <a:b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</a:b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up a free </a:t>
            </a:r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demo!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8BEF5-E425-8AA4-CF3B-AC72594A49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6984" y="6009449"/>
            <a:ext cx="3635406" cy="5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14020</TotalTime>
  <Words>997</Words>
  <Application>Microsoft Office PowerPoint</Application>
  <PresentationFormat>Widescreen</PresentationFormat>
  <Paragraphs>213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Century Gothic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Download the free Fundraising Plan Excel worksheets Donorview.com/AFPwebinar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Perron</dc:creator>
  <cp:lastModifiedBy>Kimberly Perron</cp:lastModifiedBy>
  <cp:revision>8</cp:revision>
  <dcterms:created xsi:type="dcterms:W3CDTF">2023-02-27T13:46:23Z</dcterms:created>
  <dcterms:modified xsi:type="dcterms:W3CDTF">2023-08-08T12:31:39Z</dcterms:modified>
</cp:coreProperties>
</file>